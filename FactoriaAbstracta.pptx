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0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CFD0D8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CFD0D8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4644" y="411943"/>
            <a:ext cx="9575350" cy="9152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8146" y="2581401"/>
            <a:ext cx="6347459" cy="1948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CFD0D8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143750" y="253"/>
            <a:ext cx="4286250" cy="6956172"/>
            <a:chOff x="7143750" y="253"/>
            <a:chExt cx="4286250" cy="6438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5" name="object 5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5" y="1421233"/>
            <a:ext cx="5384165" cy="16446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130"/>
              </a:spcBef>
            </a:pPr>
            <a:r>
              <a:rPr dirty="0"/>
              <a:t>Factoría</a:t>
            </a:r>
            <a:r>
              <a:rPr spc="-110" dirty="0"/>
              <a:t> </a:t>
            </a:r>
            <a:r>
              <a:rPr dirty="0"/>
              <a:t>Abstracta:</a:t>
            </a:r>
            <a:r>
              <a:rPr spc="-105" dirty="0"/>
              <a:t> </a:t>
            </a:r>
            <a:r>
              <a:rPr spc="-10" dirty="0"/>
              <a:t>Creando </a:t>
            </a:r>
            <a:r>
              <a:rPr dirty="0"/>
              <a:t>Familias</a:t>
            </a:r>
            <a:r>
              <a:rPr spc="-10" dirty="0"/>
              <a:t> </a:t>
            </a:r>
            <a:r>
              <a:rPr dirty="0"/>
              <a:t>de</a:t>
            </a:r>
            <a:r>
              <a:rPr spc="-5" dirty="0"/>
              <a:t> </a:t>
            </a:r>
            <a:r>
              <a:rPr spc="-10" dirty="0"/>
              <a:t>Objetos Coherentes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7375" y="3379368"/>
            <a:ext cx="5313680" cy="5433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Un</a:t>
            </a:r>
            <a:r>
              <a:rPr sz="13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patrón</a:t>
            </a:r>
            <a:r>
              <a:rPr sz="13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sz="13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diseño</a:t>
            </a:r>
            <a:r>
              <a:rPr sz="13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creacional</a:t>
            </a:r>
            <a:r>
              <a:rPr sz="13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fundamental</a:t>
            </a:r>
            <a:r>
              <a:rPr sz="13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para</a:t>
            </a:r>
            <a:r>
              <a:rPr sz="13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sistemas</a:t>
            </a:r>
            <a:r>
              <a:rPr sz="13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flexibles</a:t>
            </a:r>
            <a:r>
              <a:rPr sz="13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50" dirty="0">
                <a:solidFill>
                  <a:srgbClr val="CFD0D8"/>
                </a:solidFill>
                <a:latin typeface="Roboto"/>
                <a:cs typeface="Roboto"/>
              </a:rPr>
              <a:t>y </a:t>
            </a:r>
            <a:r>
              <a:rPr sz="1350" spc="-10" dirty="0" err="1">
                <a:solidFill>
                  <a:srgbClr val="CFD0D8"/>
                </a:solidFill>
                <a:latin typeface="Roboto"/>
                <a:cs typeface="Roboto"/>
              </a:rPr>
              <a:t>mantenibles</a:t>
            </a:r>
            <a:r>
              <a:rPr lang="es-MX" sz="1350" spc="-10" dirty="0">
                <a:solidFill>
                  <a:srgbClr val="CFD0D8"/>
                </a:solidFill>
                <a:latin typeface="Roboto"/>
                <a:cs typeface="Roboto"/>
              </a:rPr>
              <a:t>.</a:t>
            </a:r>
            <a:endParaRPr sz="1350" dirty="0">
              <a:latin typeface="Roboto"/>
              <a:cs typeface="Roboto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0FE88D2E-BC5D-547E-9F1C-C58C3A328F91}"/>
              </a:ext>
            </a:extLst>
          </p:cNvPr>
          <p:cNvSpPr txBox="1"/>
          <p:nvPr/>
        </p:nvSpPr>
        <p:spPr>
          <a:xfrm>
            <a:off x="587375" y="4454694"/>
            <a:ext cx="2771140" cy="1429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343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MX" sz="1350" dirty="0">
                <a:solidFill>
                  <a:srgbClr val="CFD0D8"/>
                </a:solidFill>
                <a:latin typeface="Roboto"/>
                <a:cs typeface="Roboto"/>
              </a:rPr>
              <a:t>Juan David Arboleda</a:t>
            </a:r>
          </a:p>
          <a:p>
            <a:pPr marL="298450" marR="5080" indent="-285750">
              <a:lnSpc>
                <a:spcPct val="1343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MX" sz="1350" dirty="0">
                <a:solidFill>
                  <a:srgbClr val="CFD0D8"/>
                </a:solidFill>
                <a:latin typeface="Roboto"/>
                <a:cs typeface="Roboto"/>
              </a:rPr>
              <a:t>David Santiago </a:t>
            </a:r>
            <a:r>
              <a:rPr lang="es-MX" sz="1350" dirty="0" err="1">
                <a:solidFill>
                  <a:srgbClr val="CFD0D8"/>
                </a:solidFill>
                <a:latin typeface="Roboto"/>
                <a:cs typeface="Roboto"/>
              </a:rPr>
              <a:t>Erez</a:t>
            </a:r>
            <a:endParaRPr lang="es-CO" sz="1350" dirty="0">
              <a:solidFill>
                <a:srgbClr val="CFD0D8"/>
              </a:solidFill>
              <a:latin typeface="Roboto"/>
              <a:cs typeface="Roboto"/>
            </a:endParaRPr>
          </a:p>
          <a:p>
            <a:pPr marL="298450" marR="5080" indent="-285750">
              <a:lnSpc>
                <a:spcPct val="1343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CO" sz="1350" dirty="0" err="1">
                <a:solidFill>
                  <a:srgbClr val="CFD0D8"/>
                </a:solidFill>
                <a:latin typeface="Roboto"/>
                <a:cs typeface="Roboto"/>
              </a:rPr>
              <a:t>Jonattan</a:t>
            </a:r>
            <a:r>
              <a:rPr lang="es-CO" sz="1350" dirty="0">
                <a:solidFill>
                  <a:srgbClr val="CFD0D8"/>
                </a:solidFill>
                <a:latin typeface="Roboto"/>
                <a:cs typeface="Roboto"/>
              </a:rPr>
              <a:t> Steven Rizo</a:t>
            </a:r>
          </a:p>
          <a:p>
            <a:pPr marL="298450" marR="5080" indent="-285750">
              <a:lnSpc>
                <a:spcPct val="1343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CO" sz="1350" dirty="0">
                <a:solidFill>
                  <a:srgbClr val="CFD0D8"/>
                </a:solidFill>
                <a:latin typeface="Roboto"/>
                <a:cs typeface="Roboto"/>
              </a:rPr>
              <a:t>Diego Andrés </a:t>
            </a:r>
            <a:r>
              <a:rPr lang="es-CO" sz="1350" dirty="0" err="1">
                <a:solidFill>
                  <a:srgbClr val="CFD0D8"/>
                </a:solidFill>
                <a:latin typeface="Roboto"/>
                <a:cs typeface="Roboto"/>
              </a:rPr>
              <a:t>Gutierrez</a:t>
            </a:r>
            <a:endParaRPr lang="es-CO" sz="1350" dirty="0">
              <a:solidFill>
                <a:srgbClr val="CFD0D8"/>
              </a:solidFill>
              <a:latin typeface="Roboto"/>
              <a:cs typeface="Roboto"/>
            </a:endParaRPr>
          </a:p>
          <a:p>
            <a:pPr marL="298450" marR="5080" indent="-285750">
              <a:lnSpc>
                <a:spcPct val="1343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CO" sz="1350">
                <a:solidFill>
                  <a:srgbClr val="CFD0D8"/>
                </a:solidFill>
                <a:latin typeface="Roboto"/>
                <a:cs typeface="Roboto"/>
              </a:rPr>
              <a:t>Diego Alejandro Alvarado</a:t>
            </a:r>
            <a:endParaRPr lang="es-CO" sz="1350" dirty="0">
              <a:solidFill>
                <a:srgbClr val="CFD0D8"/>
              </a:solidFill>
              <a:latin typeface="Roboto"/>
              <a:cs typeface="Roboto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D19A12C3-D789-A5B6-A359-D68DC31CCE00}"/>
              </a:ext>
            </a:extLst>
          </p:cNvPr>
          <p:cNvSpPr txBox="1"/>
          <p:nvPr/>
        </p:nvSpPr>
        <p:spPr>
          <a:xfrm>
            <a:off x="3657600" y="4454693"/>
            <a:ext cx="2771140" cy="1429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343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MX" sz="1350" dirty="0">
                <a:solidFill>
                  <a:srgbClr val="CFD0D8"/>
                </a:solidFill>
                <a:latin typeface="Roboto"/>
                <a:cs typeface="Roboto"/>
              </a:rPr>
              <a:t>Juan Esteban Ome</a:t>
            </a:r>
          </a:p>
          <a:p>
            <a:pPr marL="298450" marR="5080" indent="-285750">
              <a:lnSpc>
                <a:spcPct val="1343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MX" sz="1350" dirty="0">
                <a:solidFill>
                  <a:srgbClr val="CFD0D8"/>
                </a:solidFill>
                <a:latin typeface="Roboto"/>
                <a:cs typeface="Roboto"/>
              </a:rPr>
              <a:t>Thiago Fabian Rojas</a:t>
            </a:r>
          </a:p>
          <a:p>
            <a:pPr marL="298450" marR="5080" indent="-285750">
              <a:lnSpc>
                <a:spcPct val="1343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MX" sz="1350" dirty="0">
                <a:solidFill>
                  <a:srgbClr val="CFD0D8"/>
                </a:solidFill>
                <a:latin typeface="Roboto"/>
                <a:cs typeface="Roboto"/>
              </a:rPr>
              <a:t>Luis Alejandro Duarte</a:t>
            </a:r>
          </a:p>
          <a:p>
            <a:pPr marL="298450" marR="5080" indent="-285750">
              <a:lnSpc>
                <a:spcPct val="1343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MX" sz="1350" dirty="0">
                <a:solidFill>
                  <a:srgbClr val="CFD0D8"/>
                </a:solidFill>
                <a:latin typeface="Roboto"/>
                <a:cs typeface="Roboto"/>
              </a:rPr>
              <a:t>Chat GPT 5.2</a:t>
            </a:r>
          </a:p>
          <a:p>
            <a:pPr marL="298450" marR="5080" indent="-285750">
              <a:lnSpc>
                <a:spcPct val="1343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MX" sz="1350" dirty="0">
                <a:solidFill>
                  <a:srgbClr val="CFD0D8"/>
                </a:solidFill>
                <a:latin typeface="Roboto"/>
                <a:cs typeface="Roboto"/>
              </a:rPr>
              <a:t>Gamma</a:t>
            </a:r>
            <a:endParaRPr lang="es-CO" sz="1350" dirty="0">
              <a:solidFill>
                <a:srgbClr val="CFD0D8"/>
              </a:solidFill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52400" y="0"/>
            <a:ext cx="11582400" cy="6433820"/>
          </a:xfrm>
          <a:custGeom>
            <a:avLst/>
            <a:gdLst/>
            <a:ahLst/>
            <a:cxnLst/>
            <a:rect l="l" t="t" r="r" b="b"/>
            <a:pathLst>
              <a:path w="11254740" h="6433820">
                <a:moveTo>
                  <a:pt x="11254236" y="0"/>
                </a:moveTo>
                <a:lnTo>
                  <a:pt x="0" y="0"/>
                </a:lnTo>
                <a:lnTo>
                  <a:pt x="0" y="6433671"/>
                </a:lnTo>
                <a:lnTo>
                  <a:pt x="11254236" y="6433671"/>
                </a:lnTo>
                <a:lnTo>
                  <a:pt x="11254236" y="0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20"/>
              </a:spcBef>
            </a:pPr>
            <a:r>
              <a:rPr sz="3300" dirty="0"/>
              <a:t>¿Qué</a:t>
            </a:r>
            <a:r>
              <a:rPr sz="3300" spc="-55" dirty="0"/>
              <a:t> </a:t>
            </a:r>
            <a:r>
              <a:rPr sz="3300" dirty="0"/>
              <a:t>es</a:t>
            </a:r>
            <a:r>
              <a:rPr sz="3300" spc="-55" dirty="0"/>
              <a:t> </a:t>
            </a:r>
            <a:r>
              <a:rPr sz="3300" dirty="0"/>
              <a:t>la</a:t>
            </a:r>
            <a:r>
              <a:rPr sz="3300" spc="-55" dirty="0"/>
              <a:t> </a:t>
            </a:r>
            <a:r>
              <a:rPr sz="3300" dirty="0"/>
              <a:t>Factoría</a:t>
            </a:r>
            <a:r>
              <a:rPr sz="3300" spc="-55" dirty="0"/>
              <a:t> </a:t>
            </a:r>
            <a:r>
              <a:rPr sz="3300" spc="-10" dirty="0"/>
              <a:t>Abstracta?</a:t>
            </a:r>
            <a:endParaRPr sz="33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36525">
              <a:lnSpc>
                <a:spcPct val="137300"/>
              </a:lnSpc>
              <a:spcBef>
                <a:spcPts val="90"/>
              </a:spcBef>
            </a:pPr>
            <a:r>
              <a:rPr dirty="0"/>
              <a:t>Un</a:t>
            </a:r>
            <a:r>
              <a:rPr spc="15" dirty="0"/>
              <a:t> </a:t>
            </a:r>
            <a:r>
              <a:rPr dirty="0"/>
              <a:t>patrón</a:t>
            </a:r>
            <a:r>
              <a:rPr spc="20" dirty="0"/>
              <a:t> </a:t>
            </a:r>
            <a:r>
              <a:rPr dirty="0"/>
              <a:t>de</a:t>
            </a:r>
            <a:r>
              <a:rPr spc="20" dirty="0"/>
              <a:t> </a:t>
            </a:r>
            <a:r>
              <a:rPr dirty="0"/>
              <a:t>diseño</a:t>
            </a:r>
            <a:r>
              <a:rPr spc="20" dirty="0"/>
              <a:t> </a:t>
            </a:r>
            <a:r>
              <a:rPr dirty="0"/>
              <a:t>creacional</a:t>
            </a:r>
            <a:r>
              <a:rPr spc="15" dirty="0"/>
              <a:t> </a:t>
            </a:r>
            <a:r>
              <a:rPr dirty="0"/>
              <a:t>que</a:t>
            </a:r>
            <a:r>
              <a:rPr spc="20" dirty="0"/>
              <a:t> </a:t>
            </a:r>
            <a:r>
              <a:rPr dirty="0"/>
              <a:t>proporciona</a:t>
            </a:r>
            <a:r>
              <a:rPr spc="20" dirty="0"/>
              <a:t> </a:t>
            </a:r>
            <a:r>
              <a:rPr dirty="0"/>
              <a:t>una</a:t>
            </a:r>
            <a:r>
              <a:rPr spc="20" dirty="0"/>
              <a:t> </a:t>
            </a:r>
            <a:r>
              <a:rPr dirty="0"/>
              <a:t>interfaz</a:t>
            </a:r>
            <a:r>
              <a:rPr spc="15" dirty="0"/>
              <a:t> </a:t>
            </a:r>
            <a:r>
              <a:rPr dirty="0"/>
              <a:t>para</a:t>
            </a:r>
            <a:r>
              <a:rPr spc="20" dirty="0"/>
              <a:t> </a:t>
            </a:r>
            <a:r>
              <a:rPr dirty="0"/>
              <a:t>crear</a:t>
            </a:r>
            <a:r>
              <a:rPr spc="20" dirty="0"/>
              <a:t> </a:t>
            </a:r>
            <a:r>
              <a:rPr dirty="0"/>
              <a:t>familias</a:t>
            </a:r>
            <a:r>
              <a:rPr spc="20" dirty="0"/>
              <a:t> </a:t>
            </a:r>
            <a:r>
              <a:rPr spc="-25" dirty="0"/>
              <a:t>de </a:t>
            </a:r>
            <a:r>
              <a:rPr dirty="0"/>
              <a:t>objetos</a:t>
            </a:r>
            <a:r>
              <a:rPr spc="35" dirty="0"/>
              <a:t> </a:t>
            </a:r>
            <a:r>
              <a:rPr dirty="0"/>
              <a:t>relacionados</a:t>
            </a:r>
            <a:r>
              <a:rPr spc="40" dirty="0"/>
              <a:t> </a:t>
            </a:r>
            <a:r>
              <a:rPr dirty="0"/>
              <a:t>o</a:t>
            </a:r>
            <a:r>
              <a:rPr spc="40" dirty="0"/>
              <a:t> </a:t>
            </a:r>
            <a:r>
              <a:rPr dirty="0"/>
              <a:t>dependientes,</a:t>
            </a:r>
            <a:r>
              <a:rPr spc="40" dirty="0"/>
              <a:t> </a:t>
            </a:r>
            <a:r>
              <a:rPr dirty="0"/>
              <a:t>sin</a:t>
            </a:r>
            <a:r>
              <a:rPr spc="40" dirty="0"/>
              <a:t> </a:t>
            </a:r>
            <a:r>
              <a:rPr dirty="0"/>
              <a:t>especificar</a:t>
            </a:r>
            <a:r>
              <a:rPr spc="40" dirty="0"/>
              <a:t> </a:t>
            </a:r>
            <a:r>
              <a:rPr dirty="0"/>
              <a:t>sus</a:t>
            </a:r>
            <a:r>
              <a:rPr spc="40" dirty="0"/>
              <a:t> </a:t>
            </a:r>
            <a:r>
              <a:rPr dirty="0"/>
              <a:t>clases</a:t>
            </a:r>
            <a:r>
              <a:rPr spc="40" dirty="0"/>
              <a:t> </a:t>
            </a:r>
            <a:r>
              <a:rPr spc="-10" dirty="0"/>
              <a:t>concretas.</a:t>
            </a:r>
          </a:p>
          <a:p>
            <a:pPr marL="12700" marR="142240">
              <a:lnSpc>
                <a:spcPct val="137300"/>
              </a:lnSpc>
              <a:spcBef>
                <a:spcPts val="1185"/>
              </a:spcBef>
            </a:pPr>
            <a:r>
              <a:rPr dirty="0"/>
              <a:t>Imagina</a:t>
            </a:r>
            <a:r>
              <a:rPr spc="25" dirty="0"/>
              <a:t> </a:t>
            </a:r>
            <a:r>
              <a:rPr dirty="0"/>
              <a:t>una</a:t>
            </a:r>
            <a:r>
              <a:rPr spc="30" dirty="0"/>
              <a:t> </a:t>
            </a:r>
            <a:r>
              <a:rPr b="1" spc="-20" dirty="0">
                <a:latin typeface="Roboto"/>
                <a:cs typeface="Roboto"/>
              </a:rPr>
              <a:t>"f</a:t>
            </a:r>
            <a:r>
              <a:rPr lang="es-MX" b="1" spc="-20" dirty="0"/>
              <a:t>á</a:t>
            </a:r>
            <a:r>
              <a:rPr b="1" spc="-20" dirty="0" err="1">
                <a:latin typeface="Roboto"/>
                <a:cs typeface="Roboto"/>
              </a:rPr>
              <a:t>brica</a:t>
            </a:r>
            <a:r>
              <a:rPr b="1" spc="2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de</a:t>
            </a:r>
            <a:r>
              <a:rPr b="1" spc="30" dirty="0">
                <a:latin typeface="Roboto"/>
                <a:cs typeface="Roboto"/>
              </a:rPr>
              <a:t> </a:t>
            </a:r>
            <a:r>
              <a:rPr b="1" spc="-10" dirty="0">
                <a:latin typeface="Roboto"/>
                <a:cs typeface="Roboto"/>
              </a:rPr>
              <a:t>f</a:t>
            </a:r>
            <a:r>
              <a:rPr lang="es-MX" b="1" spc="-10" dirty="0" err="1">
                <a:latin typeface="Roboto"/>
                <a:cs typeface="Roboto"/>
              </a:rPr>
              <a:t>ábricas</a:t>
            </a:r>
            <a:r>
              <a:rPr b="1" spc="-10" dirty="0">
                <a:latin typeface="Roboto"/>
                <a:cs typeface="Roboto"/>
              </a:rPr>
              <a:t>"</a:t>
            </a:r>
            <a:r>
              <a:rPr spc="-10" dirty="0"/>
              <a:t>:</a:t>
            </a:r>
            <a:r>
              <a:rPr spc="30" dirty="0"/>
              <a:t> </a:t>
            </a:r>
            <a:r>
              <a:rPr dirty="0"/>
              <a:t>cada</a:t>
            </a:r>
            <a:r>
              <a:rPr spc="25" dirty="0"/>
              <a:t> </a:t>
            </a:r>
            <a:r>
              <a:rPr dirty="0"/>
              <a:t>fábrica</a:t>
            </a:r>
            <a:r>
              <a:rPr spc="30" dirty="0"/>
              <a:t> </a:t>
            </a:r>
            <a:r>
              <a:rPr dirty="0"/>
              <a:t>se</a:t>
            </a:r>
            <a:r>
              <a:rPr spc="30" dirty="0"/>
              <a:t> </a:t>
            </a:r>
            <a:r>
              <a:rPr dirty="0"/>
              <a:t>especializa</a:t>
            </a:r>
            <a:r>
              <a:rPr spc="25" dirty="0"/>
              <a:t> </a:t>
            </a:r>
            <a:r>
              <a:rPr dirty="0"/>
              <a:t>en</a:t>
            </a:r>
            <a:r>
              <a:rPr spc="30" dirty="0"/>
              <a:t> </a:t>
            </a:r>
            <a:r>
              <a:rPr dirty="0"/>
              <a:t>crear</a:t>
            </a:r>
            <a:r>
              <a:rPr spc="30" dirty="0"/>
              <a:t> </a:t>
            </a:r>
            <a:r>
              <a:rPr dirty="0"/>
              <a:t>un</a:t>
            </a:r>
            <a:r>
              <a:rPr spc="25" dirty="0"/>
              <a:t> </a:t>
            </a:r>
            <a:r>
              <a:rPr spc="-10" dirty="0"/>
              <a:t>conjunto </a:t>
            </a:r>
            <a:r>
              <a:rPr dirty="0"/>
              <a:t>de</a:t>
            </a:r>
            <a:r>
              <a:rPr spc="20" dirty="0"/>
              <a:t> </a:t>
            </a:r>
            <a:r>
              <a:rPr dirty="0"/>
              <a:t>productos</a:t>
            </a:r>
            <a:r>
              <a:rPr spc="20" dirty="0"/>
              <a:t> </a:t>
            </a:r>
            <a:r>
              <a:rPr dirty="0"/>
              <a:t>interconectados</a:t>
            </a:r>
            <a:r>
              <a:rPr spc="20" dirty="0"/>
              <a:t> </a:t>
            </a:r>
            <a:r>
              <a:rPr dirty="0"/>
              <a:t>que</a:t>
            </a:r>
            <a:r>
              <a:rPr spc="20" dirty="0"/>
              <a:t> </a:t>
            </a:r>
            <a:r>
              <a:rPr dirty="0"/>
              <a:t>trabajan</a:t>
            </a:r>
            <a:r>
              <a:rPr spc="20" dirty="0"/>
              <a:t> </a:t>
            </a:r>
            <a:r>
              <a:rPr dirty="0"/>
              <a:t>juntos</a:t>
            </a:r>
            <a:r>
              <a:rPr spc="20" dirty="0"/>
              <a:t> </a:t>
            </a:r>
            <a:r>
              <a:rPr dirty="0"/>
              <a:t>de</a:t>
            </a:r>
            <a:r>
              <a:rPr spc="20" dirty="0"/>
              <a:t> </a:t>
            </a:r>
            <a:r>
              <a:rPr dirty="0"/>
              <a:t>forma</a:t>
            </a:r>
            <a:r>
              <a:rPr spc="20" dirty="0"/>
              <a:t> </a:t>
            </a:r>
            <a:r>
              <a:rPr spc="-10" dirty="0"/>
              <a:t>coherente.</a:t>
            </a:r>
          </a:p>
          <a:p>
            <a:pPr marL="12700" marR="5080">
              <a:lnSpc>
                <a:spcPct val="132500"/>
              </a:lnSpc>
              <a:spcBef>
                <a:spcPts val="1255"/>
              </a:spcBef>
            </a:pPr>
            <a:r>
              <a:rPr dirty="0"/>
              <a:t>Su</a:t>
            </a:r>
            <a:r>
              <a:rPr spc="10" dirty="0"/>
              <a:t> </a:t>
            </a:r>
            <a:r>
              <a:rPr dirty="0"/>
              <a:t>objetivo</a:t>
            </a:r>
            <a:r>
              <a:rPr spc="15" dirty="0"/>
              <a:t> </a:t>
            </a:r>
            <a:r>
              <a:rPr dirty="0"/>
              <a:t>principal</a:t>
            </a:r>
            <a:r>
              <a:rPr spc="15" dirty="0"/>
              <a:t> </a:t>
            </a:r>
            <a:r>
              <a:rPr dirty="0"/>
              <a:t>es</a:t>
            </a:r>
            <a:r>
              <a:rPr spc="10" dirty="0"/>
              <a:t> </a:t>
            </a:r>
            <a:r>
              <a:rPr dirty="0"/>
              <a:t>desacoplar</a:t>
            </a:r>
            <a:r>
              <a:rPr spc="15" dirty="0"/>
              <a:t> </a:t>
            </a:r>
            <a:r>
              <a:rPr dirty="0"/>
              <a:t>el</a:t>
            </a:r>
            <a:r>
              <a:rPr spc="15" dirty="0"/>
              <a:t> </a:t>
            </a:r>
            <a:r>
              <a:rPr dirty="0"/>
              <a:t>código</a:t>
            </a:r>
            <a:r>
              <a:rPr spc="15" dirty="0"/>
              <a:t> </a:t>
            </a:r>
            <a:r>
              <a:rPr dirty="0"/>
              <a:t>cliente</a:t>
            </a:r>
            <a:r>
              <a:rPr spc="10" dirty="0"/>
              <a:t> </a:t>
            </a:r>
            <a:r>
              <a:rPr dirty="0"/>
              <a:t>de</a:t>
            </a:r>
            <a:r>
              <a:rPr spc="15" dirty="0"/>
              <a:t> </a:t>
            </a:r>
            <a:r>
              <a:rPr dirty="0"/>
              <a:t>la</a:t>
            </a:r>
            <a:r>
              <a:rPr spc="15" dirty="0"/>
              <a:t> </a:t>
            </a:r>
            <a:r>
              <a:rPr dirty="0"/>
              <a:t>creación</a:t>
            </a:r>
            <a:r>
              <a:rPr spc="15" dirty="0"/>
              <a:t> </a:t>
            </a:r>
            <a:r>
              <a:rPr dirty="0"/>
              <a:t>y</a:t>
            </a:r>
            <a:r>
              <a:rPr spc="10" dirty="0"/>
              <a:t> </a:t>
            </a:r>
            <a:r>
              <a:rPr dirty="0"/>
              <a:t>composición</a:t>
            </a:r>
            <a:r>
              <a:rPr spc="15" dirty="0"/>
              <a:t> </a:t>
            </a:r>
            <a:r>
              <a:rPr spc="-25" dirty="0"/>
              <a:t>de </a:t>
            </a:r>
            <a:r>
              <a:rPr dirty="0"/>
              <a:t>los</a:t>
            </a:r>
            <a:r>
              <a:rPr spc="15" dirty="0"/>
              <a:t> </a:t>
            </a:r>
            <a:r>
              <a:rPr dirty="0"/>
              <a:t>productos,</a:t>
            </a:r>
            <a:r>
              <a:rPr spc="15" dirty="0"/>
              <a:t> </a:t>
            </a:r>
            <a:r>
              <a:rPr dirty="0"/>
              <a:t>permitiendo</a:t>
            </a:r>
            <a:r>
              <a:rPr spc="15" dirty="0"/>
              <a:t> </a:t>
            </a:r>
            <a:r>
              <a:rPr dirty="0"/>
              <a:t>mayor</a:t>
            </a:r>
            <a:r>
              <a:rPr spc="15" dirty="0"/>
              <a:t> </a:t>
            </a:r>
            <a:r>
              <a:rPr dirty="0"/>
              <a:t>flexibilidad</a:t>
            </a:r>
            <a:r>
              <a:rPr spc="20" dirty="0"/>
              <a:t> </a:t>
            </a:r>
            <a:r>
              <a:rPr dirty="0"/>
              <a:t>y</a:t>
            </a:r>
            <a:r>
              <a:rPr spc="15" dirty="0"/>
              <a:t> </a:t>
            </a:r>
            <a:r>
              <a:rPr spc="-10" dirty="0"/>
              <a:t>mantenibilidad.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8417" y="1434914"/>
            <a:ext cx="3254349" cy="43422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4" y="1416050"/>
            <a:ext cx="9547226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¿Para</a:t>
            </a:r>
            <a:r>
              <a:rPr spc="-20" dirty="0"/>
              <a:t> </a:t>
            </a:r>
            <a:r>
              <a:rPr dirty="0"/>
              <a:t>qué</a:t>
            </a:r>
            <a:r>
              <a:rPr spc="-15" dirty="0"/>
              <a:t> </a:t>
            </a:r>
            <a:r>
              <a:rPr dirty="0"/>
              <a:t>funciona?</a:t>
            </a:r>
            <a:r>
              <a:rPr spc="-15" dirty="0"/>
              <a:t> </a:t>
            </a:r>
            <a:r>
              <a:rPr dirty="0"/>
              <a:t>El</a:t>
            </a:r>
            <a:r>
              <a:rPr spc="-15" dirty="0"/>
              <a:t> </a:t>
            </a:r>
            <a:r>
              <a:rPr dirty="0"/>
              <a:t>Problema</a:t>
            </a:r>
            <a:r>
              <a:rPr spc="-15" dirty="0"/>
              <a:t> </a:t>
            </a:r>
            <a:r>
              <a:rPr dirty="0"/>
              <a:t>que</a:t>
            </a:r>
            <a:r>
              <a:rPr spc="-15" dirty="0"/>
              <a:t> </a:t>
            </a:r>
            <a:r>
              <a:rPr spc="-10" dirty="0"/>
              <a:t>Resuelve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81024" y="2324099"/>
            <a:ext cx="3314700" cy="2667000"/>
            <a:chOff x="581024" y="2324099"/>
            <a:chExt cx="3314700" cy="2667000"/>
          </a:xfrm>
        </p:grpSpPr>
        <p:sp>
          <p:nvSpPr>
            <p:cNvPr id="5" name="object 5"/>
            <p:cNvSpPr/>
            <p:nvPr/>
          </p:nvSpPr>
          <p:spPr>
            <a:xfrm>
              <a:off x="600074" y="2333624"/>
              <a:ext cx="3286125" cy="2647950"/>
            </a:xfrm>
            <a:custGeom>
              <a:avLst/>
              <a:gdLst/>
              <a:ahLst/>
              <a:cxnLst/>
              <a:rect l="l" t="t" r="r" b="b"/>
              <a:pathLst>
                <a:path w="3286125" h="2647950">
                  <a:moveTo>
                    <a:pt x="3238956" y="2647949"/>
                  </a:moveTo>
                  <a:lnTo>
                    <a:pt x="71196" y="2647949"/>
                  </a:lnTo>
                  <a:lnTo>
                    <a:pt x="66241" y="2647522"/>
                  </a:lnTo>
                  <a:lnTo>
                    <a:pt x="29705" y="2634280"/>
                  </a:lnTo>
                  <a:lnTo>
                    <a:pt x="3885" y="2602744"/>
                  </a:lnTo>
                  <a:lnTo>
                    <a:pt x="0" y="2585652"/>
                  </a:lnTo>
                  <a:lnTo>
                    <a:pt x="0" y="2581274"/>
                  </a:lnTo>
                  <a:lnTo>
                    <a:pt x="0" y="62296"/>
                  </a:lnTo>
                  <a:lnTo>
                    <a:pt x="15621" y="25991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3238956" y="0"/>
                  </a:lnTo>
                  <a:lnTo>
                    <a:pt x="3273682" y="17129"/>
                  </a:lnTo>
                  <a:lnTo>
                    <a:pt x="3286124" y="47167"/>
                  </a:lnTo>
                  <a:lnTo>
                    <a:pt x="3286124" y="2600782"/>
                  </a:lnTo>
                  <a:lnTo>
                    <a:pt x="3268995" y="2635506"/>
                  </a:lnTo>
                  <a:lnTo>
                    <a:pt x="3242239" y="2647626"/>
                  </a:lnTo>
                  <a:lnTo>
                    <a:pt x="3238956" y="2647949"/>
                  </a:lnTo>
                  <a:close/>
                </a:path>
              </a:pathLst>
            </a:custGeom>
            <a:solidFill>
              <a:srgbClr val="000017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0913" y="2324099"/>
              <a:ext cx="3295015" cy="2667000"/>
            </a:xfrm>
            <a:custGeom>
              <a:avLst/>
              <a:gdLst/>
              <a:ahLst/>
              <a:cxnLst/>
              <a:rect l="l" t="t" r="r" b="b"/>
              <a:pathLst>
                <a:path w="3295015" h="2667000">
                  <a:moveTo>
                    <a:pt x="3294761" y="51841"/>
                  </a:moveTo>
                  <a:lnTo>
                    <a:pt x="3293237" y="44284"/>
                  </a:lnTo>
                  <a:lnTo>
                    <a:pt x="3287191" y="29692"/>
                  </a:lnTo>
                  <a:lnTo>
                    <a:pt x="3282861" y="23202"/>
                  </a:lnTo>
                  <a:lnTo>
                    <a:pt x="3277705" y="18059"/>
                  </a:lnTo>
                  <a:lnTo>
                    <a:pt x="3277235" y="17576"/>
                  </a:lnTo>
                  <a:lnTo>
                    <a:pt x="3271596" y="11950"/>
                  </a:lnTo>
                  <a:lnTo>
                    <a:pt x="3265119" y="7620"/>
                  </a:lnTo>
                  <a:lnTo>
                    <a:pt x="3250234" y="1460"/>
                  </a:lnTo>
                  <a:lnTo>
                    <a:pt x="3250044" y="1460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68"/>
                  </a:lnTo>
                  <a:lnTo>
                    <a:pt x="27038" y="17272"/>
                  </a:lnTo>
                  <a:lnTo>
                    <a:pt x="4851" y="47332"/>
                  </a:lnTo>
                  <a:lnTo>
                    <a:pt x="2413" y="54114"/>
                  </a:lnTo>
                  <a:lnTo>
                    <a:pt x="609" y="61341"/>
                  </a:lnTo>
                  <a:lnTo>
                    <a:pt x="0" y="65455"/>
                  </a:lnTo>
                  <a:lnTo>
                    <a:pt x="1092" y="61341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192" y="31572"/>
                  </a:lnTo>
                  <a:lnTo>
                    <a:pt x="3269005" y="37363"/>
                  </a:lnTo>
                  <a:lnTo>
                    <a:pt x="3272752" y="44284"/>
                  </a:lnTo>
                  <a:lnTo>
                    <a:pt x="3274999" y="51841"/>
                  </a:lnTo>
                  <a:lnTo>
                    <a:pt x="3275025" y="52057"/>
                  </a:lnTo>
                  <a:lnTo>
                    <a:pt x="3275749" y="60007"/>
                  </a:lnTo>
                  <a:lnTo>
                    <a:pt x="3275749" y="2606992"/>
                  </a:lnTo>
                  <a:lnTo>
                    <a:pt x="3274999" y="2615171"/>
                  </a:lnTo>
                  <a:lnTo>
                    <a:pt x="3272790" y="2622613"/>
                  </a:lnTo>
                  <a:lnTo>
                    <a:pt x="3269005" y="2629649"/>
                  </a:lnTo>
                  <a:lnTo>
                    <a:pt x="3264192" y="2635440"/>
                  </a:lnTo>
                  <a:lnTo>
                    <a:pt x="3263760" y="2635961"/>
                  </a:lnTo>
                  <a:lnTo>
                    <a:pt x="3257448" y="2641206"/>
                  </a:lnTo>
                  <a:lnTo>
                    <a:pt x="3250527" y="2644952"/>
                  </a:lnTo>
                  <a:lnTo>
                    <a:pt x="3242970" y="2647200"/>
                  </a:lnTo>
                  <a:lnTo>
                    <a:pt x="3234791" y="2647950"/>
                  </a:lnTo>
                  <a:lnTo>
                    <a:pt x="75349" y="2647950"/>
                  </a:lnTo>
                  <a:lnTo>
                    <a:pt x="33007" y="2638336"/>
                  </a:lnTo>
                  <a:lnTo>
                    <a:pt x="1092" y="2605671"/>
                  </a:lnTo>
                  <a:lnTo>
                    <a:pt x="0" y="2601557"/>
                  </a:lnTo>
                  <a:lnTo>
                    <a:pt x="609" y="2605671"/>
                  </a:lnTo>
                  <a:lnTo>
                    <a:pt x="21475" y="2644686"/>
                  </a:lnTo>
                  <a:lnTo>
                    <a:pt x="60490" y="2665552"/>
                  </a:lnTo>
                  <a:lnTo>
                    <a:pt x="75349" y="2667000"/>
                  </a:lnTo>
                  <a:lnTo>
                    <a:pt x="3242754" y="2667000"/>
                  </a:lnTo>
                  <a:lnTo>
                    <a:pt x="3250044" y="2665552"/>
                  </a:lnTo>
                  <a:lnTo>
                    <a:pt x="3250234" y="2665552"/>
                  </a:lnTo>
                  <a:lnTo>
                    <a:pt x="3265119" y="2659392"/>
                  </a:lnTo>
                  <a:lnTo>
                    <a:pt x="3271596" y="2655062"/>
                  </a:lnTo>
                  <a:lnTo>
                    <a:pt x="3277235" y="2649423"/>
                  </a:lnTo>
                  <a:lnTo>
                    <a:pt x="3277705" y="2648953"/>
                  </a:lnTo>
                  <a:lnTo>
                    <a:pt x="3282861" y="2643797"/>
                  </a:lnTo>
                  <a:lnTo>
                    <a:pt x="3287191" y="2637307"/>
                  </a:lnTo>
                  <a:lnTo>
                    <a:pt x="3293287" y="2622613"/>
                  </a:lnTo>
                  <a:lnTo>
                    <a:pt x="3294761" y="2615171"/>
                  </a:lnTo>
                  <a:lnTo>
                    <a:pt x="3294761" y="51841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1024" y="2324099"/>
              <a:ext cx="76200" cy="2667000"/>
            </a:xfrm>
            <a:custGeom>
              <a:avLst/>
              <a:gdLst/>
              <a:ahLst/>
              <a:cxnLst/>
              <a:rect l="l" t="t" r="r" b="b"/>
              <a:pathLst>
                <a:path w="76200" h="2667000">
                  <a:moveTo>
                    <a:pt x="76200" y="2666999"/>
                  </a:moveTo>
                  <a:lnTo>
                    <a:pt x="33403" y="2660923"/>
                  </a:lnTo>
                  <a:lnTo>
                    <a:pt x="6075" y="2633595"/>
                  </a:lnTo>
                  <a:lnTo>
                    <a:pt x="0" y="2610932"/>
                  </a:lnTo>
                  <a:lnTo>
                    <a:pt x="0" y="2606992"/>
                  </a:lnTo>
                  <a:lnTo>
                    <a:pt x="0" y="56067"/>
                  </a:lnTo>
                  <a:lnTo>
                    <a:pt x="14789" y="20361"/>
                  </a:lnTo>
                  <a:lnTo>
                    <a:pt x="52165" y="384"/>
                  </a:lnTo>
                  <a:lnTo>
                    <a:pt x="56067" y="0"/>
                  </a:lnTo>
                  <a:lnTo>
                    <a:pt x="76200" y="0"/>
                  </a:lnTo>
                  <a:lnTo>
                    <a:pt x="76200" y="2666999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35025" y="2497137"/>
            <a:ext cx="2738755" cy="226504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483870">
              <a:lnSpc>
                <a:spcPct val="106100"/>
              </a:lnSpc>
              <a:spcBef>
                <a:spcPts val="15"/>
              </a:spcBef>
            </a:pPr>
            <a:r>
              <a:rPr sz="1650" dirty="0">
                <a:solidFill>
                  <a:srgbClr val="CFD0D8"/>
                </a:solidFill>
                <a:latin typeface="Roboto Lt"/>
                <a:cs typeface="Roboto Lt"/>
              </a:rPr>
              <a:t>Dependencia</a:t>
            </a:r>
            <a:r>
              <a:rPr sz="1650" spc="80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650" dirty="0">
                <a:solidFill>
                  <a:srgbClr val="CFD0D8"/>
                </a:solidFill>
                <a:latin typeface="Roboto Lt"/>
                <a:cs typeface="Roboto Lt"/>
              </a:rPr>
              <a:t>de</a:t>
            </a:r>
            <a:r>
              <a:rPr sz="1650" spc="80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650" spc="-10" dirty="0">
                <a:solidFill>
                  <a:srgbClr val="CFD0D8"/>
                </a:solidFill>
                <a:latin typeface="Roboto Lt"/>
                <a:cs typeface="Roboto Lt"/>
              </a:rPr>
              <a:t>Clases Concretas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3100"/>
              </a:lnSpc>
              <a:spcBef>
                <a:spcPts val="560"/>
              </a:spcBef>
            </a:pP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Cuando</a:t>
            </a:r>
            <a:r>
              <a:rPr sz="13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el</a:t>
            </a:r>
            <a:r>
              <a:rPr sz="1350" spc="-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código</a:t>
            </a:r>
            <a:r>
              <a:rPr sz="13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cliente</a:t>
            </a:r>
            <a:r>
              <a:rPr sz="1350" spc="-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instancia directamente</a:t>
            </a:r>
            <a:r>
              <a:rPr sz="13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clases</a:t>
            </a:r>
            <a:r>
              <a:rPr sz="13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específicas,</a:t>
            </a:r>
            <a:r>
              <a:rPr sz="13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se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crea</a:t>
            </a:r>
            <a:r>
              <a:rPr sz="1350" spc="-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una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fuerte</a:t>
            </a:r>
            <a:r>
              <a:rPr sz="1350" spc="-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dependencia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que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dificulta</a:t>
            </a:r>
            <a:r>
              <a:rPr sz="13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el</a:t>
            </a:r>
            <a:r>
              <a:rPr sz="13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cambio</a:t>
            </a:r>
            <a:r>
              <a:rPr sz="13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implementaciones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sz="1350" spc="-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aumenta</a:t>
            </a:r>
            <a:r>
              <a:rPr sz="1350" spc="-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el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acoplamiento.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48124" y="2324099"/>
            <a:ext cx="3314700" cy="2667000"/>
            <a:chOff x="4048124" y="2324099"/>
            <a:chExt cx="3314700" cy="2667000"/>
          </a:xfrm>
        </p:grpSpPr>
        <p:sp>
          <p:nvSpPr>
            <p:cNvPr id="10" name="object 10"/>
            <p:cNvSpPr/>
            <p:nvPr/>
          </p:nvSpPr>
          <p:spPr>
            <a:xfrm>
              <a:off x="4067174" y="2333624"/>
              <a:ext cx="3286125" cy="2647950"/>
            </a:xfrm>
            <a:custGeom>
              <a:avLst/>
              <a:gdLst/>
              <a:ahLst/>
              <a:cxnLst/>
              <a:rect l="l" t="t" r="r" b="b"/>
              <a:pathLst>
                <a:path w="3286125" h="2647950">
                  <a:moveTo>
                    <a:pt x="3238956" y="2647949"/>
                  </a:moveTo>
                  <a:lnTo>
                    <a:pt x="71196" y="2647949"/>
                  </a:lnTo>
                  <a:lnTo>
                    <a:pt x="66241" y="2647522"/>
                  </a:lnTo>
                  <a:lnTo>
                    <a:pt x="29705" y="2634280"/>
                  </a:lnTo>
                  <a:lnTo>
                    <a:pt x="3885" y="2602744"/>
                  </a:lnTo>
                  <a:lnTo>
                    <a:pt x="0" y="2585652"/>
                  </a:lnTo>
                  <a:lnTo>
                    <a:pt x="0" y="2581274"/>
                  </a:lnTo>
                  <a:lnTo>
                    <a:pt x="0" y="62296"/>
                  </a:lnTo>
                  <a:lnTo>
                    <a:pt x="15621" y="25991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3238956" y="0"/>
                  </a:lnTo>
                  <a:lnTo>
                    <a:pt x="3273682" y="17129"/>
                  </a:lnTo>
                  <a:lnTo>
                    <a:pt x="3286125" y="47167"/>
                  </a:lnTo>
                  <a:lnTo>
                    <a:pt x="3286125" y="2600782"/>
                  </a:lnTo>
                  <a:lnTo>
                    <a:pt x="3268994" y="2635506"/>
                  </a:lnTo>
                  <a:lnTo>
                    <a:pt x="3242239" y="2647626"/>
                  </a:lnTo>
                  <a:lnTo>
                    <a:pt x="3238956" y="2647949"/>
                  </a:lnTo>
                  <a:close/>
                </a:path>
              </a:pathLst>
            </a:custGeom>
            <a:solidFill>
              <a:srgbClr val="000017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68013" y="2324099"/>
              <a:ext cx="3295015" cy="2667000"/>
            </a:xfrm>
            <a:custGeom>
              <a:avLst/>
              <a:gdLst/>
              <a:ahLst/>
              <a:cxnLst/>
              <a:rect l="l" t="t" r="r" b="b"/>
              <a:pathLst>
                <a:path w="3295015" h="2667000">
                  <a:moveTo>
                    <a:pt x="3294761" y="51841"/>
                  </a:moveTo>
                  <a:lnTo>
                    <a:pt x="3293237" y="44284"/>
                  </a:lnTo>
                  <a:lnTo>
                    <a:pt x="3287191" y="29692"/>
                  </a:lnTo>
                  <a:lnTo>
                    <a:pt x="3282861" y="23202"/>
                  </a:lnTo>
                  <a:lnTo>
                    <a:pt x="3277705" y="18059"/>
                  </a:lnTo>
                  <a:lnTo>
                    <a:pt x="3277235" y="17576"/>
                  </a:lnTo>
                  <a:lnTo>
                    <a:pt x="3271596" y="11950"/>
                  </a:lnTo>
                  <a:lnTo>
                    <a:pt x="3265106" y="7620"/>
                  </a:lnTo>
                  <a:lnTo>
                    <a:pt x="3250234" y="1460"/>
                  </a:lnTo>
                  <a:lnTo>
                    <a:pt x="3250044" y="1460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68"/>
                  </a:lnTo>
                  <a:lnTo>
                    <a:pt x="27038" y="17272"/>
                  </a:lnTo>
                  <a:lnTo>
                    <a:pt x="4851" y="47332"/>
                  </a:lnTo>
                  <a:lnTo>
                    <a:pt x="2413" y="54114"/>
                  </a:lnTo>
                  <a:lnTo>
                    <a:pt x="609" y="61341"/>
                  </a:lnTo>
                  <a:lnTo>
                    <a:pt x="0" y="65455"/>
                  </a:lnTo>
                  <a:lnTo>
                    <a:pt x="1092" y="61341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192" y="31572"/>
                  </a:lnTo>
                  <a:lnTo>
                    <a:pt x="3269005" y="37363"/>
                  </a:lnTo>
                  <a:lnTo>
                    <a:pt x="3272752" y="44284"/>
                  </a:lnTo>
                  <a:lnTo>
                    <a:pt x="3274999" y="51841"/>
                  </a:lnTo>
                  <a:lnTo>
                    <a:pt x="3275025" y="52057"/>
                  </a:lnTo>
                  <a:lnTo>
                    <a:pt x="3275749" y="60007"/>
                  </a:lnTo>
                  <a:lnTo>
                    <a:pt x="3275749" y="2606992"/>
                  </a:lnTo>
                  <a:lnTo>
                    <a:pt x="3274999" y="2615171"/>
                  </a:lnTo>
                  <a:lnTo>
                    <a:pt x="3272790" y="2622613"/>
                  </a:lnTo>
                  <a:lnTo>
                    <a:pt x="3269005" y="2629649"/>
                  </a:lnTo>
                  <a:lnTo>
                    <a:pt x="3264192" y="2635440"/>
                  </a:lnTo>
                  <a:lnTo>
                    <a:pt x="3263760" y="2635961"/>
                  </a:lnTo>
                  <a:lnTo>
                    <a:pt x="3257448" y="2641206"/>
                  </a:lnTo>
                  <a:lnTo>
                    <a:pt x="3250527" y="2644952"/>
                  </a:lnTo>
                  <a:lnTo>
                    <a:pt x="3242970" y="2647200"/>
                  </a:lnTo>
                  <a:lnTo>
                    <a:pt x="3234791" y="2647950"/>
                  </a:lnTo>
                  <a:lnTo>
                    <a:pt x="75349" y="2647950"/>
                  </a:lnTo>
                  <a:lnTo>
                    <a:pt x="33007" y="2638336"/>
                  </a:lnTo>
                  <a:lnTo>
                    <a:pt x="1092" y="2605671"/>
                  </a:lnTo>
                  <a:lnTo>
                    <a:pt x="0" y="2601557"/>
                  </a:lnTo>
                  <a:lnTo>
                    <a:pt x="609" y="2605671"/>
                  </a:lnTo>
                  <a:lnTo>
                    <a:pt x="21475" y="2644686"/>
                  </a:lnTo>
                  <a:lnTo>
                    <a:pt x="60490" y="2665552"/>
                  </a:lnTo>
                  <a:lnTo>
                    <a:pt x="75349" y="2667000"/>
                  </a:lnTo>
                  <a:lnTo>
                    <a:pt x="3242754" y="2667000"/>
                  </a:lnTo>
                  <a:lnTo>
                    <a:pt x="3250044" y="2665552"/>
                  </a:lnTo>
                  <a:lnTo>
                    <a:pt x="3250234" y="2665552"/>
                  </a:lnTo>
                  <a:lnTo>
                    <a:pt x="3265106" y="2659392"/>
                  </a:lnTo>
                  <a:lnTo>
                    <a:pt x="3271596" y="2655062"/>
                  </a:lnTo>
                  <a:lnTo>
                    <a:pt x="3277235" y="2649423"/>
                  </a:lnTo>
                  <a:lnTo>
                    <a:pt x="3277705" y="2648953"/>
                  </a:lnTo>
                  <a:lnTo>
                    <a:pt x="3282861" y="2643797"/>
                  </a:lnTo>
                  <a:lnTo>
                    <a:pt x="3287191" y="2637307"/>
                  </a:lnTo>
                  <a:lnTo>
                    <a:pt x="3293275" y="2622613"/>
                  </a:lnTo>
                  <a:lnTo>
                    <a:pt x="3294761" y="2615171"/>
                  </a:lnTo>
                  <a:lnTo>
                    <a:pt x="3294761" y="51841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48124" y="2324099"/>
              <a:ext cx="76200" cy="2667000"/>
            </a:xfrm>
            <a:custGeom>
              <a:avLst/>
              <a:gdLst/>
              <a:ahLst/>
              <a:cxnLst/>
              <a:rect l="l" t="t" r="r" b="b"/>
              <a:pathLst>
                <a:path w="76200" h="2667000">
                  <a:moveTo>
                    <a:pt x="76199" y="2666999"/>
                  </a:moveTo>
                  <a:lnTo>
                    <a:pt x="33402" y="2660923"/>
                  </a:lnTo>
                  <a:lnTo>
                    <a:pt x="6075" y="2633595"/>
                  </a:lnTo>
                  <a:lnTo>
                    <a:pt x="0" y="2610932"/>
                  </a:lnTo>
                  <a:lnTo>
                    <a:pt x="0" y="2606992"/>
                  </a:lnTo>
                  <a:lnTo>
                    <a:pt x="0" y="56067"/>
                  </a:lnTo>
                  <a:lnTo>
                    <a:pt x="14789" y="20361"/>
                  </a:lnTo>
                  <a:lnTo>
                    <a:pt x="52164" y="384"/>
                  </a:lnTo>
                  <a:lnTo>
                    <a:pt x="56067" y="0"/>
                  </a:lnTo>
                  <a:lnTo>
                    <a:pt x="76199" y="0"/>
                  </a:lnTo>
                  <a:lnTo>
                    <a:pt x="76199" y="2666999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02125" y="2497137"/>
            <a:ext cx="2644775" cy="226504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491490">
              <a:lnSpc>
                <a:spcPct val="106100"/>
              </a:lnSpc>
              <a:spcBef>
                <a:spcPts val="15"/>
              </a:spcBef>
            </a:pPr>
            <a:r>
              <a:rPr sz="1650" dirty="0">
                <a:solidFill>
                  <a:srgbClr val="CFD0D8"/>
                </a:solidFill>
                <a:latin typeface="Roboto Lt"/>
                <a:cs typeface="Roboto Lt"/>
              </a:rPr>
              <a:t>Familias</a:t>
            </a:r>
            <a:r>
              <a:rPr sz="1650" spc="4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650" dirty="0">
                <a:solidFill>
                  <a:srgbClr val="CFD0D8"/>
                </a:solidFill>
                <a:latin typeface="Roboto Lt"/>
                <a:cs typeface="Roboto Lt"/>
              </a:rPr>
              <a:t>de</a:t>
            </a:r>
            <a:r>
              <a:rPr sz="1650" spc="50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650" spc="-10" dirty="0">
                <a:solidFill>
                  <a:srgbClr val="CFD0D8"/>
                </a:solidFill>
                <a:latin typeface="Roboto Lt"/>
                <a:cs typeface="Roboto Lt"/>
              </a:rPr>
              <a:t>Productos Incompatibles</a:t>
            </a:r>
            <a:endParaRPr sz="1650">
              <a:latin typeface="Roboto Lt"/>
              <a:cs typeface="Roboto Lt"/>
            </a:endParaRPr>
          </a:p>
          <a:p>
            <a:pPr marL="12700" marR="274955">
              <a:lnSpc>
                <a:spcPct val="134300"/>
              </a:lnSpc>
              <a:spcBef>
                <a:spcPts val="540"/>
              </a:spcBef>
            </a:pP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Necesidad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sz="13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asegurar</a:t>
            </a:r>
            <a:r>
              <a:rPr sz="13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que</a:t>
            </a:r>
            <a:r>
              <a:rPr sz="13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los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objetos</a:t>
            </a:r>
            <a:r>
              <a:rPr sz="1350" spc="-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creados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(ej.</a:t>
            </a:r>
            <a:r>
              <a:rPr sz="1350" spc="-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botones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50" dirty="0">
                <a:solidFill>
                  <a:srgbClr val="CFD0D8"/>
                </a:solidFill>
                <a:latin typeface="Roboto"/>
                <a:cs typeface="Roboto"/>
              </a:rPr>
              <a:t>y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ct val="131900"/>
              </a:lnSpc>
              <a:spcBef>
                <a:spcPts val="40"/>
              </a:spcBef>
            </a:pP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ventanas) pertenezcan</a:t>
            </a:r>
            <a:r>
              <a:rPr sz="1350" spc="-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sz="1350" spc="-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la</a:t>
            </a:r>
            <a:r>
              <a:rPr sz="1350" spc="-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misma </a:t>
            </a:r>
            <a:r>
              <a:rPr sz="1350" spc="-20" dirty="0">
                <a:solidFill>
                  <a:srgbClr val="CFD0D8"/>
                </a:solidFill>
                <a:latin typeface="Roboto"/>
                <a:cs typeface="Roboto"/>
              </a:rPr>
              <a:t>"familia"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o</a:t>
            </a:r>
            <a:r>
              <a:rPr sz="13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estilo</a:t>
            </a:r>
            <a:r>
              <a:rPr sz="13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para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mantener</a:t>
            </a:r>
            <a:r>
              <a:rPr sz="13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la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coherencia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visual</a:t>
            </a:r>
            <a:r>
              <a:rPr sz="13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funcional</a:t>
            </a:r>
            <a:r>
              <a:rPr sz="13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del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sistema.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515224" y="2324099"/>
            <a:ext cx="3314700" cy="2667000"/>
            <a:chOff x="7515224" y="2324099"/>
            <a:chExt cx="3314700" cy="2667000"/>
          </a:xfrm>
        </p:grpSpPr>
        <p:sp>
          <p:nvSpPr>
            <p:cNvPr id="15" name="object 15"/>
            <p:cNvSpPr/>
            <p:nvPr/>
          </p:nvSpPr>
          <p:spPr>
            <a:xfrm>
              <a:off x="7534274" y="2333624"/>
              <a:ext cx="3286125" cy="2647950"/>
            </a:xfrm>
            <a:custGeom>
              <a:avLst/>
              <a:gdLst/>
              <a:ahLst/>
              <a:cxnLst/>
              <a:rect l="l" t="t" r="r" b="b"/>
              <a:pathLst>
                <a:path w="3286125" h="2647950">
                  <a:moveTo>
                    <a:pt x="3238956" y="2647949"/>
                  </a:moveTo>
                  <a:lnTo>
                    <a:pt x="71196" y="2647949"/>
                  </a:lnTo>
                  <a:lnTo>
                    <a:pt x="66240" y="2647522"/>
                  </a:lnTo>
                  <a:lnTo>
                    <a:pt x="29705" y="2634280"/>
                  </a:lnTo>
                  <a:lnTo>
                    <a:pt x="3885" y="2602744"/>
                  </a:lnTo>
                  <a:lnTo>
                    <a:pt x="0" y="2581274"/>
                  </a:lnTo>
                  <a:lnTo>
                    <a:pt x="0" y="62296"/>
                  </a:lnTo>
                  <a:lnTo>
                    <a:pt x="15621" y="25991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3238956" y="0"/>
                  </a:lnTo>
                  <a:lnTo>
                    <a:pt x="3273681" y="17129"/>
                  </a:lnTo>
                  <a:lnTo>
                    <a:pt x="3286123" y="47167"/>
                  </a:lnTo>
                  <a:lnTo>
                    <a:pt x="3286123" y="2600782"/>
                  </a:lnTo>
                  <a:lnTo>
                    <a:pt x="3268995" y="2635506"/>
                  </a:lnTo>
                  <a:lnTo>
                    <a:pt x="3238956" y="2647949"/>
                  </a:lnTo>
                  <a:close/>
                </a:path>
              </a:pathLst>
            </a:custGeom>
            <a:solidFill>
              <a:srgbClr val="000017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35113" y="2324099"/>
              <a:ext cx="3295015" cy="2667000"/>
            </a:xfrm>
            <a:custGeom>
              <a:avLst/>
              <a:gdLst/>
              <a:ahLst/>
              <a:cxnLst/>
              <a:rect l="l" t="t" r="r" b="b"/>
              <a:pathLst>
                <a:path w="3295015" h="2667000">
                  <a:moveTo>
                    <a:pt x="3294761" y="51841"/>
                  </a:moveTo>
                  <a:lnTo>
                    <a:pt x="3293237" y="44284"/>
                  </a:lnTo>
                  <a:lnTo>
                    <a:pt x="3287191" y="29692"/>
                  </a:lnTo>
                  <a:lnTo>
                    <a:pt x="3282848" y="23202"/>
                  </a:lnTo>
                  <a:lnTo>
                    <a:pt x="3277705" y="18059"/>
                  </a:lnTo>
                  <a:lnTo>
                    <a:pt x="3277222" y="17576"/>
                  </a:lnTo>
                  <a:lnTo>
                    <a:pt x="3271596" y="11950"/>
                  </a:lnTo>
                  <a:lnTo>
                    <a:pt x="3265106" y="7620"/>
                  </a:lnTo>
                  <a:lnTo>
                    <a:pt x="3250234" y="1460"/>
                  </a:lnTo>
                  <a:lnTo>
                    <a:pt x="3250044" y="1460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68"/>
                  </a:lnTo>
                  <a:lnTo>
                    <a:pt x="27038" y="17272"/>
                  </a:lnTo>
                  <a:lnTo>
                    <a:pt x="4851" y="47332"/>
                  </a:lnTo>
                  <a:lnTo>
                    <a:pt x="2413" y="54114"/>
                  </a:lnTo>
                  <a:lnTo>
                    <a:pt x="609" y="61341"/>
                  </a:lnTo>
                  <a:lnTo>
                    <a:pt x="0" y="65455"/>
                  </a:lnTo>
                  <a:lnTo>
                    <a:pt x="1092" y="61341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192" y="31572"/>
                  </a:lnTo>
                  <a:lnTo>
                    <a:pt x="3269005" y="37363"/>
                  </a:lnTo>
                  <a:lnTo>
                    <a:pt x="3272752" y="44284"/>
                  </a:lnTo>
                  <a:lnTo>
                    <a:pt x="3274999" y="51841"/>
                  </a:lnTo>
                  <a:lnTo>
                    <a:pt x="3275025" y="52057"/>
                  </a:lnTo>
                  <a:lnTo>
                    <a:pt x="3275749" y="60007"/>
                  </a:lnTo>
                  <a:lnTo>
                    <a:pt x="3275749" y="2606992"/>
                  </a:lnTo>
                  <a:lnTo>
                    <a:pt x="3274999" y="2615171"/>
                  </a:lnTo>
                  <a:lnTo>
                    <a:pt x="3272790" y="2622613"/>
                  </a:lnTo>
                  <a:lnTo>
                    <a:pt x="3269005" y="2629649"/>
                  </a:lnTo>
                  <a:lnTo>
                    <a:pt x="3264192" y="2635440"/>
                  </a:lnTo>
                  <a:lnTo>
                    <a:pt x="3263760" y="2635961"/>
                  </a:lnTo>
                  <a:lnTo>
                    <a:pt x="3257448" y="2641206"/>
                  </a:lnTo>
                  <a:lnTo>
                    <a:pt x="3250514" y="2644952"/>
                  </a:lnTo>
                  <a:lnTo>
                    <a:pt x="3242970" y="2647200"/>
                  </a:lnTo>
                  <a:lnTo>
                    <a:pt x="3234791" y="2647950"/>
                  </a:lnTo>
                  <a:lnTo>
                    <a:pt x="75349" y="2647950"/>
                  </a:lnTo>
                  <a:lnTo>
                    <a:pt x="33007" y="2638336"/>
                  </a:lnTo>
                  <a:lnTo>
                    <a:pt x="1092" y="2605671"/>
                  </a:lnTo>
                  <a:lnTo>
                    <a:pt x="0" y="2601557"/>
                  </a:lnTo>
                  <a:lnTo>
                    <a:pt x="609" y="2605671"/>
                  </a:lnTo>
                  <a:lnTo>
                    <a:pt x="21475" y="2644686"/>
                  </a:lnTo>
                  <a:lnTo>
                    <a:pt x="60490" y="2665552"/>
                  </a:lnTo>
                  <a:lnTo>
                    <a:pt x="75349" y="2667000"/>
                  </a:lnTo>
                  <a:lnTo>
                    <a:pt x="3242754" y="2667000"/>
                  </a:lnTo>
                  <a:lnTo>
                    <a:pt x="3250044" y="2665552"/>
                  </a:lnTo>
                  <a:lnTo>
                    <a:pt x="3250234" y="2665552"/>
                  </a:lnTo>
                  <a:lnTo>
                    <a:pt x="3265106" y="2659392"/>
                  </a:lnTo>
                  <a:lnTo>
                    <a:pt x="3271596" y="2655062"/>
                  </a:lnTo>
                  <a:lnTo>
                    <a:pt x="3277705" y="2648953"/>
                  </a:lnTo>
                  <a:lnTo>
                    <a:pt x="3282848" y="2643797"/>
                  </a:lnTo>
                  <a:lnTo>
                    <a:pt x="3287191" y="2637307"/>
                  </a:lnTo>
                  <a:lnTo>
                    <a:pt x="3293275" y="2622613"/>
                  </a:lnTo>
                  <a:lnTo>
                    <a:pt x="3294761" y="2615171"/>
                  </a:lnTo>
                  <a:lnTo>
                    <a:pt x="3294761" y="51841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15224" y="2324099"/>
              <a:ext cx="76200" cy="2667000"/>
            </a:xfrm>
            <a:custGeom>
              <a:avLst/>
              <a:gdLst/>
              <a:ahLst/>
              <a:cxnLst/>
              <a:rect l="l" t="t" r="r" b="b"/>
              <a:pathLst>
                <a:path w="76200" h="2667000">
                  <a:moveTo>
                    <a:pt x="76199" y="2666999"/>
                  </a:moveTo>
                  <a:lnTo>
                    <a:pt x="33402" y="2660923"/>
                  </a:lnTo>
                  <a:lnTo>
                    <a:pt x="6075" y="2633595"/>
                  </a:lnTo>
                  <a:lnTo>
                    <a:pt x="0" y="2610932"/>
                  </a:lnTo>
                  <a:lnTo>
                    <a:pt x="0" y="2606992"/>
                  </a:lnTo>
                  <a:lnTo>
                    <a:pt x="0" y="56067"/>
                  </a:lnTo>
                  <a:lnTo>
                    <a:pt x="14788" y="20361"/>
                  </a:lnTo>
                  <a:lnTo>
                    <a:pt x="52164" y="384"/>
                  </a:lnTo>
                  <a:lnTo>
                    <a:pt x="56066" y="0"/>
                  </a:lnTo>
                  <a:lnTo>
                    <a:pt x="76199" y="0"/>
                  </a:lnTo>
                  <a:lnTo>
                    <a:pt x="76199" y="2666999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69225" y="2497137"/>
            <a:ext cx="2755265" cy="226504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188595">
              <a:lnSpc>
                <a:spcPct val="106100"/>
              </a:lnSpc>
              <a:spcBef>
                <a:spcPts val="15"/>
              </a:spcBef>
            </a:pPr>
            <a:r>
              <a:rPr sz="1650" dirty="0">
                <a:solidFill>
                  <a:srgbClr val="CFD0D8"/>
                </a:solidFill>
                <a:latin typeface="Roboto Lt"/>
                <a:cs typeface="Roboto Lt"/>
              </a:rPr>
              <a:t>Dificultad</a:t>
            </a:r>
            <a:r>
              <a:rPr sz="1650" spc="70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650" dirty="0">
                <a:solidFill>
                  <a:srgbClr val="CFD0D8"/>
                </a:solidFill>
                <a:latin typeface="Roboto Lt"/>
                <a:cs typeface="Roboto Lt"/>
              </a:rPr>
              <a:t>para</a:t>
            </a:r>
            <a:r>
              <a:rPr sz="1650" spc="70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650" dirty="0">
                <a:solidFill>
                  <a:srgbClr val="CFD0D8"/>
                </a:solidFill>
                <a:latin typeface="Roboto Lt"/>
                <a:cs typeface="Roboto Lt"/>
              </a:rPr>
              <a:t>Cambiar</a:t>
            </a:r>
            <a:r>
              <a:rPr sz="1650" spc="70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650" spc="-25" dirty="0">
                <a:solidFill>
                  <a:srgbClr val="CFD0D8"/>
                </a:solidFill>
                <a:latin typeface="Roboto Lt"/>
                <a:cs typeface="Roboto Lt"/>
              </a:rPr>
              <a:t>de </a:t>
            </a:r>
            <a:r>
              <a:rPr sz="1650" spc="-10" dirty="0">
                <a:solidFill>
                  <a:srgbClr val="CFD0D8"/>
                </a:solidFill>
                <a:latin typeface="Roboto Lt"/>
                <a:cs typeface="Roboto Lt"/>
              </a:rPr>
              <a:t>Proveedor/Estilo</a:t>
            </a:r>
            <a:endParaRPr sz="1650">
              <a:latin typeface="Roboto Lt"/>
              <a:cs typeface="Roboto Lt"/>
            </a:endParaRPr>
          </a:p>
          <a:p>
            <a:pPr marL="12700" marR="5080" algn="just">
              <a:lnSpc>
                <a:spcPct val="134300"/>
              </a:lnSpc>
              <a:spcBef>
                <a:spcPts val="540"/>
              </a:spcBef>
            </a:pP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Cambiar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entre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diferentes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conjuntos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sz="1350" spc="-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componentes</a:t>
            </a:r>
            <a:r>
              <a:rPr sz="1350" spc="-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(ej.</a:t>
            </a:r>
            <a:r>
              <a:rPr sz="1350" spc="-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UI</a:t>
            </a:r>
            <a:r>
              <a:rPr sz="1350" spc="-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sz="1350" spc="-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Windows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vs.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macOS)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se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vuelve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complejo,</a:t>
            </a:r>
            <a:endParaRPr sz="1350">
              <a:latin typeface="Roboto"/>
              <a:cs typeface="Roboto"/>
            </a:endParaRPr>
          </a:p>
          <a:p>
            <a:pPr marL="12700" marR="426720">
              <a:lnSpc>
                <a:spcPct val="131900"/>
              </a:lnSpc>
              <a:spcBef>
                <a:spcPts val="40"/>
              </a:spcBef>
            </a:pP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propenso</a:t>
            </a:r>
            <a:r>
              <a:rPr sz="13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sz="13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errores</a:t>
            </a:r>
            <a:r>
              <a:rPr sz="13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sz="13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requiere modificaciones</a:t>
            </a:r>
            <a:r>
              <a:rPr sz="1350" spc="-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extensas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en</a:t>
            </a:r>
            <a:r>
              <a:rPr sz="1350" spc="-1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el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código.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40805"/>
          </a:xfrm>
          <a:custGeom>
            <a:avLst/>
            <a:gdLst/>
            <a:ahLst/>
            <a:cxnLst/>
            <a:rect l="l" t="t" r="r" b="b"/>
            <a:pathLst>
              <a:path w="10616565" h="6440805">
                <a:moveTo>
                  <a:pt x="10616082" y="6440423"/>
                </a:moveTo>
                <a:lnTo>
                  <a:pt x="0" y="6440423"/>
                </a:lnTo>
                <a:lnTo>
                  <a:pt x="0" y="0"/>
                </a:lnTo>
                <a:lnTo>
                  <a:pt x="10616082" y="0"/>
                </a:lnTo>
                <a:lnTo>
                  <a:pt x="10616082" y="6440423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00" dirty="0"/>
              <a:t>Estructura Clave</a:t>
            </a:r>
            <a:r>
              <a:rPr sz="3100" spc="5" dirty="0"/>
              <a:t> </a:t>
            </a:r>
            <a:r>
              <a:rPr sz="3100" dirty="0"/>
              <a:t>del</a:t>
            </a:r>
            <a:r>
              <a:rPr sz="3100" spc="5" dirty="0"/>
              <a:t> </a:t>
            </a:r>
            <a:r>
              <a:rPr sz="3100" spc="-10" dirty="0"/>
              <a:t>Patrón</a:t>
            </a:r>
            <a:endParaRPr sz="3100"/>
          </a:p>
        </p:txBody>
      </p:sp>
      <p:grpSp>
        <p:nvGrpSpPr>
          <p:cNvPr id="4" name="object 4"/>
          <p:cNvGrpSpPr/>
          <p:nvPr/>
        </p:nvGrpSpPr>
        <p:grpSpPr>
          <a:xfrm>
            <a:off x="2454312" y="1251156"/>
            <a:ext cx="951230" cy="927735"/>
            <a:chOff x="2454312" y="1251156"/>
            <a:chExt cx="951230" cy="927735"/>
          </a:xfrm>
        </p:grpSpPr>
        <p:sp>
          <p:nvSpPr>
            <p:cNvPr id="5" name="object 5"/>
            <p:cNvSpPr/>
            <p:nvPr/>
          </p:nvSpPr>
          <p:spPr>
            <a:xfrm>
              <a:off x="2459392" y="1256236"/>
              <a:ext cx="941069" cy="917575"/>
            </a:xfrm>
            <a:custGeom>
              <a:avLst/>
              <a:gdLst/>
              <a:ahLst/>
              <a:cxnLst/>
              <a:rect l="l" t="t" r="r" b="b"/>
              <a:pathLst>
                <a:path w="941070" h="917575">
                  <a:moveTo>
                    <a:pt x="940518" y="917572"/>
                  </a:moveTo>
                  <a:lnTo>
                    <a:pt x="0" y="917572"/>
                  </a:lnTo>
                  <a:lnTo>
                    <a:pt x="470259" y="0"/>
                  </a:lnTo>
                  <a:lnTo>
                    <a:pt x="940518" y="917572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59392" y="1256236"/>
              <a:ext cx="941069" cy="917575"/>
            </a:xfrm>
            <a:custGeom>
              <a:avLst/>
              <a:gdLst/>
              <a:ahLst/>
              <a:cxnLst/>
              <a:rect l="l" t="t" r="r" b="b"/>
              <a:pathLst>
                <a:path w="941070" h="917575">
                  <a:moveTo>
                    <a:pt x="470259" y="0"/>
                  </a:moveTo>
                  <a:lnTo>
                    <a:pt x="940518" y="917572"/>
                  </a:lnTo>
                  <a:lnTo>
                    <a:pt x="0" y="917572"/>
                  </a:lnTo>
                  <a:lnTo>
                    <a:pt x="470259" y="0"/>
                  </a:lnTo>
                  <a:close/>
                </a:path>
              </a:pathLst>
            </a:custGeom>
            <a:ln w="9952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56130" y="1656590"/>
            <a:ext cx="153035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-50" dirty="0">
                <a:solidFill>
                  <a:srgbClr val="CFD0D8"/>
                </a:solidFill>
                <a:latin typeface="Roboto Lt"/>
                <a:cs typeface="Roboto Lt"/>
              </a:rPr>
              <a:t>1</a:t>
            </a:r>
            <a:endParaRPr sz="1750">
              <a:latin typeface="Roboto Lt"/>
              <a:cs typeface="Roboto L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49355" y="1398354"/>
            <a:ext cx="4009390" cy="5842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50" spc="-10" dirty="0">
                <a:solidFill>
                  <a:srgbClr val="CFD0D8"/>
                </a:solidFill>
                <a:latin typeface="Roboto Lt"/>
                <a:cs typeface="Roboto Lt"/>
              </a:rPr>
              <a:t>Cliente</a:t>
            </a:r>
            <a:endParaRPr sz="155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250" spc="-10" dirty="0">
                <a:solidFill>
                  <a:srgbClr val="CFD0D8"/>
                </a:solidFill>
                <a:latin typeface="Roboto"/>
                <a:cs typeface="Roboto"/>
              </a:rPr>
              <a:t>Utiliza</a:t>
            </a:r>
            <a:r>
              <a:rPr sz="12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la</a:t>
            </a:r>
            <a:r>
              <a:rPr sz="12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spc="-10" dirty="0">
                <a:solidFill>
                  <a:srgbClr val="CFD0D8"/>
                </a:solidFill>
                <a:latin typeface="Roboto"/>
                <a:cs typeface="Roboto"/>
              </a:rPr>
              <a:t>AbstractFactory</a:t>
            </a:r>
            <a:r>
              <a:rPr sz="12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para</a:t>
            </a:r>
            <a:r>
              <a:rPr sz="12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obtener</a:t>
            </a:r>
            <a:r>
              <a:rPr sz="12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spc="-10" dirty="0">
                <a:solidFill>
                  <a:srgbClr val="CFD0D8"/>
                </a:solidFill>
                <a:latin typeface="Roboto"/>
                <a:cs typeface="Roboto"/>
              </a:rPr>
              <a:t>AbstractProducts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85435" y="2189567"/>
            <a:ext cx="8038465" cy="944880"/>
            <a:chOff x="1985435" y="2189567"/>
            <a:chExt cx="8038465" cy="944880"/>
          </a:xfrm>
        </p:grpSpPr>
        <p:sp>
          <p:nvSpPr>
            <p:cNvPr id="10" name="object 10"/>
            <p:cNvSpPr/>
            <p:nvPr/>
          </p:nvSpPr>
          <p:spPr>
            <a:xfrm>
              <a:off x="3441380" y="2189567"/>
              <a:ext cx="6582409" cy="8890"/>
            </a:xfrm>
            <a:custGeom>
              <a:avLst/>
              <a:gdLst/>
              <a:ahLst/>
              <a:cxnLst/>
              <a:rect l="l" t="t" r="r" b="b"/>
              <a:pathLst>
                <a:path w="6582409" h="8889">
                  <a:moveTo>
                    <a:pt x="6575566" y="8846"/>
                  </a:moveTo>
                  <a:lnTo>
                    <a:pt x="6403" y="8846"/>
                  </a:lnTo>
                  <a:lnTo>
                    <a:pt x="4318" y="8414"/>
                  </a:lnTo>
                  <a:lnTo>
                    <a:pt x="863" y="6687"/>
                  </a:lnTo>
                  <a:lnTo>
                    <a:pt x="0" y="5644"/>
                  </a:lnTo>
                  <a:lnTo>
                    <a:pt x="0" y="4423"/>
                  </a:lnTo>
                  <a:lnTo>
                    <a:pt x="0" y="3201"/>
                  </a:lnTo>
                  <a:lnTo>
                    <a:pt x="863" y="2159"/>
                  </a:lnTo>
                  <a:lnTo>
                    <a:pt x="4318" y="431"/>
                  </a:lnTo>
                  <a:lnTo>
                    <a:pt x="6403" y="0"/>
                  </a:lnTo>
                  <a:lnTo>
                    <a:pt x="6575566" y="0"/>
                  </a:lnTo>
                  <a:lnTo>
                    <a:pt x="6577652" y="431"/>
                  </a:lnTo>
                  <a:lnTo>
                    <a:pt x="6581106" y="2159"/>
                  </a:lnTo>
                  <a:lnTo>
                    <a:pt x="6581970" y="3201"/>
                  </a:lnTo>
                  <a:lnTo>
                    <a:pt x="6581970" y="5644"/>
                  </a:lnTo>
                  <a:lnTo>
                    <a:pt x="6581106" y="6687"/>
                  </a:lnTo>
                  <a:lnTo>
                    <a:pt x="6577652" y="8414"/>
                  </a:lnTo>
                  <a:lnTo>
                    <a:pt x="6575566" y="8846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90515" y="2211683"/>
              <a:ext cx="1881505" cy="917575"/>
            </a:xfrm>
            <a:custGeom>
              <a:avLst/>
              <a:gdLst/>
              <a:ahLst/>
              <a:cxnLst/>
              <a:rect l="l" t="t" r="r" b="b"/>
              <a:pathLst>
                <a:path w="1881504" h="917575">
                  <a:moveTo>
                    <a:pt x="1881175" y="917572"/>
                  </a:moveTo>
                  <a:lnTo>
                    <a:pt x="0" y="917572"/>
                  </a:lnTo>
                  <a:lnTo>
                    <a:pt x="465543" y="0"/>
                  </a:lnTo>
                  <a:lnTo>
                    <a:pt x="1415631" y="0"/>
                  </a:lnTo>
                  <a:lnTo>
                    <a:pt x="1881175" y="917572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90515" y="2211683"/>
              <a:ext cx="1881505" cy="917575"/>
            </a:xfrm>
            <a:custGeom>
              <a:avLst/>
              <a:gdLst/>
              <a:ahLst/>
              <a:cxnLst/>
              <a:rect l="l" t="t" r="r" b="b"/>
              <a:pathLst>
                <a:path w="1881504" h="917575">
                  <a:moveTo>
                    <a:pt x="465543" y="0"/>
                  </a:moveTo>
                  <a:lnTo>
                    <a:pt x="1415631" y="0"/>
                  </a:lnTo>
                  <a:lnTo>
                    <a:pt x="1881175" y="917572"/>
                  </a:lnTo>
                  <a:lnTo>
                    <a:pt x="0" y="917572"/>
                  </a:lnTo>
                  <a:lnTo>
                    <a:pt x="465543" y="0"/>
                  </a:lnTo>
                  <a:close/>
                </a:path>
              </a:pathLst>
            </a:custGeom>
            <a:ln w="9952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856130" y="2505877"/>
            <a:ext cx="153035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-50" dirty="0">
                <a:solidFill>
                  <a:srgbClr val="CFD0D8"/>
                </a:solidFill>
                <a:latin typeface="Roboto Lt"/>
                <a:cs typeface="Roboto Lt"/>
              </a:rPr>
              <a:t>2</a:t>
            </a:r>
            <a:endParaRPr sz="1750">
              <a:latin typeface="Roboto Lt"/>
              <a:cs typeface="Roboto L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19752" y="2353801"/>
            <a:ext cx="3646804" cy="5842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50" spc="-10" dirty="0">
                <a:solidFill>
                  <a:srgbClr val="CFD0D8"/>
                </a:solidFill>
                <a:latin typeface="Roboto Lt"/>
                <a:cs typeface="Roboto Lt"/>
              </a:rPr>
              <a:t>AbstractFactory</a:t>
            </a:r>
            <a:endParaRPr sz="155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Declara</a:t>
            </a:r>
            <a:r>
              <a:rPr sz="12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interfaces</a:t>
            </a:r>
            <a:r>
              <a:rPr sz="12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para</a:t>
            </a:r>
            <a:r>
              <a:rPr sz="12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crear</a:t>
            </a:r>
            <a:r>
              <a:rPr sz="12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cada</a:t>
            </a:r>
            <a:r>
              <a:rPr sz="12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spc="-10" dirty="0">
                <a:solidFill>
                  <a:srgbClr val="CFD0D8"/>
                </a:solidFill>
                <a:latin typeface="Roboto"/>
                <a:cs typeface="Roboto"/>
              </a:rPr>
              <a:t>AbstractProduct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516558" y="3145014"/>
            <a:ext cx="8507095" cy="944880"/>
            <a:chOff x="1516558" y="3145014"/>
            <a:chExt cx="8507095" cy="944880"/>
          </a:xfrm>
        </p:grpSpPr>
        <p:sp>
          <p:nvSpPr>
            <p:cNvPr id="16" name="object 16"/>
            <p:cNvSpPr/>
            <p:nvPr/>
          </p:nvSpPr>
          <p:spPr>
            <a:xfrm>
              <a:off x="3910257" y="3145014"/>
              <a:ext cx="6113145" cy="8890"/>
            </a:xfrm>
            <a:custGeom>
              <a:avLst/>
              <a:gdLst/>
              <a:ahLst/>
              <a:cxnLst/>
              <a:rect l="l" t="t" r="r" b="b"/>
              <a:pathLst>
                <a:path w="6113145" h="8889">
                  <a:moveTo>
                    <a:pt x="6106690" y="8846"/>
                  </a:moveTo>
                  <a:lnTo>
                    <a:pt x="6403" y="8846"/>
                  </a:lnTo>
                  <a:lnTo>
                    <a:pt x="4318" y="8414"/>
                  </a:lnTo>
                  <a:lnTo>
                    <a:pt x="863" y="6687"/>
                  </a:lnTo>
                  <a:lnTo>
                    <a:pt x="0" y="5644"/>
                  </a:lnTo>
                  <a:lnTo>
                    <a:pt x="0" y="4423"/>
                  </a:lnTo>
                  <a:lnTo>
                    <a:pt x="0" y="3201"/>
                  </a:lnTo>
                  <a:lnTo>
                    <a:pt x="863" y="2159"/>
                  </a:lnTo>
                  <a:lnTo>
                    <a:pt x="4318" y="431"/>
                  </a:lnTo>
                  <a:lnTo>
                    <a:pt x="6403" y="0"/>
                  </a:lnTo>
                  <a:lnTo>
                    <a:pt x="6106690" y="0"/>
                  </a:lnTo>
                  <a:lnTo>
                    <a:pt x="6108775" y="431"/>
                  </a:lnTo>
                  <a:lnTo>
                    <a:pt x="6112230" y="2159"/>
                  </a:lnTo>
                  <a:lnTo>
                    <a:pt x="6113094" y="3201"/>
                  </a:lnTo>
                  <a:lnTo>
                    <a:pt x="6113094" y="5644"/>
                  </a:lnTo>
                  <a:lnTo>
                    <a:pt x="6112230" y="6687"/>
                  </a:lnTo>
                  <a:lnTo>
                    <a:pt x="6108775" y="8414"/>
                  </a:lnTo>
                  <a:lnTo>
                    <a:pt x="6106690" y="8846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1638" y="3167131"/>
              <a:ext cx="2821940" cy="917575"/>
            </a:xfrm>
            <a:custGeom>
              <a:avLst/>
              <a:gdLst/>
              <a:ahLst/>
              <a:cxnLst/>
              <a:rect l="l" t="t" r="r" b="b"/>
              <a:pathLst>
                <a:path w="2821940" h="917575">
                  <a:moveTo>
                    <a:pt x="2821832" y="917572"/>
                  </a:moveTo>
                  <a:lnTo>
                    <a:pt x="0" y="917572"/>
                  </a:lnTo>
                  <a:lnTo>
                    <a:pt x="460804" y="0"/>
                  </a:lnTo>
                  <a:lnTo>
                    <a:pt x="2361027" y="0"/>
                  </a:lnTo>
                  <a:lnTo>
                    <a:pt x="2821832" y="917572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1638" y="3167131"/>
              <a:ext cx="2821940" cy="917575"/>
            </a:xfrm>
            <a:custGeom>
              <a:avLst/>
              <a:gdLst/>
              <a:ahLst/>
              <a:cxnLst/>
              <a:rect l="l" t="t" r="r" b="b"/>
              <a:pathLst>
                <a:path w="2821940" h="917575">
                  <a:moveTo>
                    <a:pt x="460804" y="0"/>
                  </a:moveTo>
                  <a:lnTo>
                    <a:pt x="2361027" y="0"/>
                  </a:lnTo>
                  <a:lnTo>
                    <a:pt x="2821832" y="917572"/>
                  </a:lnTo>
                  <a:lnTo>
                    <a:pt x="0" y="917572"/>
                  </a:lnTo>
                  <a:lnTo>
                    <a:pt x="460804" y="0"/>
                  </a:lnTo>
                  <a:close/>
                </a:path>
              </a:pathLst>
            </a:custGeom>
            <a:ln w="9952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856130" y="3461324"/>
            <a:ext cx="153035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-50" dirty="0">
                <a:solidFill>
                  <a:srgbClr val="CFD0D8"/>
                </a:solidFill>
                <a:latin typeface="Roboto Lt"/>
                <a:cs typeface="Roboto Lt"/>
              </a:rPr>
              <a:t>3</a:t>
            </a:r>
            <a:endParaRPr sz="1750">
              <a:latin typeface="Roboto Lt"/>
              <a:cs typeface="Roboto L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90011" y="3309249"/>
            <a:ext cx="5320665" cy="5842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50" spc="-10" dirty="0">
                <a:solidFill>
                  <a:srgbClr val="CFD0D8"/>
                </a:solidFill>
                <a:latin typeface="Roboto Lt"/>
                <a:cs typeface="Roboto Lt"/>
              </a:rPr>
              <a:t>ConcreteFactory</a:t>
            </a:r>
            <a:endParaRPr sz="155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Implementa</a:t>
            </a:r>
            <a:r>
              <a:rPr sz="12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las</a:t>
            </a:r>
            <a:r>
              <a:rPr sz="12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interfaces</a:t>
            </a:r>
            <a:r>
              <a:rPr sz="12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sz="12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spc="-10" dirty="0">
                <a:solidFill>
                  <a:srgbClr val="CFD0D8"/>
                </a:solidFill>
                <a:latin typeface="Roboto"/>
                <a:cs typeface="Roboto"/>
              </a:rPr>
              <a:t>AbstractFactory</a:t>
            </a:r>
            <a:r>
              <a:rPr sz="1250" spc="-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para</a:t>
            </a:r>
            <a:r>
              <a:rPr sz="12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crear</a:t>
            </a:r>
            <a:r>
              <a:rPr sz="12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spc="-10" dirty="0">
                <a:solidFill>
                  <a:srgbClr val="CFD0D8"/>
                </a:solidFill>
                <a:latin typeface="Roboto"/>
                <a:cs typeface="Roboto"/>
              </a:rPr>
              <a:t>ConcreteProducts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47681" y="4100462"/>
            <a:ext cx="8975725" cy="944880"/>
            <a:chOff x="1047681" y="4100462"/>
            <a:chExt cx="8975725" cy="944880"/>
          </a:xfrm>
        </p:grpSpPr>
        <p:sp>
          <p:nvSpPr>
            <p:cNvPr id="22" name="object 22"/>
            <p:cNvSpPr/>
            <p:nvPr/>
          </p:nvSpPr>
          <p:spPr>
            <a:xfrm>
              <a:off x="4379134" y="4100462"/>
              <a:ext cx="5644515" cy="8890"/>
            </a:xfrm>
            <a:custGeom>
              <a:avLst/>
              <a:gdLst/>
              <a:ahLst/>
              <a:cxnLst/>
              <a:rect l="l" t="t" r="r" b="b"/>
              <a:pathLst>
                <a:path w="5644515" h="8889">
                  <a:moveTo>
                    <a:pt x="5637813" y="8846"/>
                  </a:moveTo>
                  <a:lnTo>
                    <a:pt x="6403" y="8846"/>
                  </a:lnTo>
                  <a:lnTo>
                    <a:pt x="4318" y="8414"/>
                  </a:lnTo>
                  <a:lnTo>
                    <a:pt x="863" y="6687"/>
                  </a:lnTo>
                  <a:lnTo>
                    <a:pt x="0" y="5644"/>
                  </a:lnTo>
                  <a:lnTo>
                    <a:pt x="0" y="4423"/>
                  </a:lnTo>
                  <a:lnTo>
                    <a:pt x="0" y="3201"/>
                  </a:lnTo>
                  <a:lnTo>
                    <a:pt x="863" y="2159"/>
                  </a:lnTo>
                  <a:lnTo>
                    <a:pt x="4318" y="431"/>
                  </a:lnTo>
                  <a:lnTo>
                    <a:pt x="6403" y="0"/>
                  </a:lnTo>
                  <a:lnTo>
                    <a:pt x="5637813" y="0"/>
                  </a:lnTo>
                  <a:lnTo>
                    <a:pt x="5639898" y="431"/>
                  </a:lnTo>
                  <a:lnTo>
                    <a:pt x="5643353" y="2159"/>
                  </a:lnTo>
                  <a:lnTo>
                    <a:pt x="5644217" y="3201"/>
                  </a:lnTo>
                  <a:lnTo>
                    <a:pt x="5644217" y="5644"/>
                  </a:lnTo>
                  <a:lnTo>
                    <a:pt x="5643353" y="6687"/>
                  </a:lnTo>
                  <a:lnTo>
                    <a:pt x="5639898" y="8414"/>
                  </a:lnTo>
                  <a:lnTo>
                    <a:pt x="5637813" y="8846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52761" y="4122578"/>
              <a:ext cx="3763010" cy="917575"/>
            </a:xfrm>
            <a:custGeom>
              <a:avLst/>
              <a:gdLst/>
              <a:ahLst/>
              <a:cxnLst/>
              <a:rect l="l" t="t" r="r" b="b"/>
              <a:pathLst>
                <a:path w="3763010" h="917575">
                  <a:moveTo>
                    <a:pt x="3762488" y="917572"/>
                  </a:moveTo>
                  <a:lnTo>
                    <a:pt x="0" y="917572"/>
                  </a:lnTo>
                  <a:lnTo>
                    <a:pt x="456059" y="0"/>
                  </a:lnTo>
                  <a:lnTo>
                    <a:pt x="3306429" y="0"/>
                  </a:lnTo>
                  <a:lnTo>
                    <a:pt x="3762488" y="917572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52761" y="4122578"/>
              <a:ext cx="3763010" cy="917575"/>
            </a:xfrm>
            <a:custGeom>
              <a:avLst/>
              <a:gdLst/>
              <a:ahLst/>
              <a:cxnLst/>
              <a:rect l="l" t="t" r="r" b="b"/>
              <a:pathLst>
                <a:path w="3763010" h="917575">
                  <a:moveTo>
                    <a:pt x="456059" y="0"/>
                  </a:moveTo>
                  <a:lnTo>
                    <a:pt x="3306429" y="0"/>
                  </a:lnTo>
                  <a:lnTo>
                    <a:pt x="3762488" y="917572"/>
                  </a:lnTo>
                  <a:lnTo>
                    <a:pt x="0" y="917572"/>
                  </a:lnTo>
                  <a:lnTo>
                    <a:pt x="456059" y="0"/>
                  </a:lnTo>
                  <a:close/>
                </a:path>
              </a:pathLst>
            </a:custGeom>
            <a:ln w="9952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856130" y="4416772"/>
            <a:ext cx="153035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-50" dirty="0">
                <a:solidFill>
                  <a:srgbClr val="CFD0D8"/>
                </a:solidFill>
                <a:latin typeface="Roboto Lt"/>
                <a:cs typeface="Roboto Lt"/>
              </a:rPr>
              <a:t>4</a:t>
            </a:r>
            <a:endParaRPr sz="1750">
              <a:latin typeface="Roboto Lt"/>
              <a:cs typeface="Roboto L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60409" y="4264696"/>
            <a:ext cx="2991485" cy="5842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50" spc="-10" dirty="0">
                <a:solidFill>
                  <a:srgbClr val="CFD0D8"/>
                </a:solidFill>
                <a:latin typeface="Roboto Lt"/>
                <a:cs typeface="Roboto Lt"/>
              </a:rPr>
              <a:t>AbstractProduct</a:t>
            </a:r>
            <a:endParaRPr sz="155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Define</a:t>
            </a:r>
            <a:r>
              <a:rPr sz="12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la</a:t>
            </a:r>
            <a:r>
              <a:rPr sz="12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interfaz</a:t>
            </a:r>
            <a:r>
              <a:rPr sz="12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para</a:t>
            </a:r>
            <a:r>
              <a:rPr sz="12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un</a:t>
            </a:r>
            <a:r>
              <a:rPr sz="12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tipo</a:t>
            </a:r>
            <a:r>
              <a:rPr sz="12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sz="12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spc="-10" dirty="0">
                <a:solidFill>
                  <a:srgbClr val="CFD0D8"/>
                </a:solidFill>
                <a:latin typeface="Roboto"/>
                <a:cs typeface="Roboto"/>
              </a:rPr>
              <a:t>producto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78804" y="5055909"/>
            <a:ext cx="9444990" cy="953769"/>
            <a:chOff x="578804" y="5055909"/>
            <a:chExt cx="9444990" cy="953769"/>
          </a:xfrm>
        </p:grpSpPr>
        <p:sp>
          <p:nvSpPr>
            <p:cNvPr id="28" name="object 28"/>
            <p:cNvSpPr/>
            <p:nvPr/>
          </p:nvSpPr>
          <p:spPr>
            <a:xfrm>
              <a:off x="4856857" y="5055909"/>
              <a:ext cx="5166995" cy="8890"/>
            </a:xfrm>
            <a:custGeom>
              <a:avLst/>
              <a:gdLst/>
              <a:ahLst/>
              <a:cxnLst/>
              <a:rect l="l" t="t" r="r" b="b"/>
              <a:pathLst>
                <a:path w="5166995" h="8889">
                  <a:moveTo>
                    <a:pt x="5160089" y="8846"/>
                  </a:moveTo>
                  <a:lnTo>
                    <a:pt x="6403" y="8846"/>
                  </a:lnTo>
                  <a:lnTo>
                    <a:pt x="4318" y="8414"/>
                  </a:lnTo>
                  <a:lnTo>
                    <a:pt x="863" y="6687"/>
                  </a:lnTo>
                  <a:lnTo>
                    <a:pt x="0" y="5644"/>
                  </a:lnTo>
                  <a:lnTo>
                    <a:pt x="0" y="4423"/>
                  </a:lnTo>
                  <a:lnTo>
                    <a:pt x="0" y="3201"/>
                  </a:lnTo>
                  <a:lnTo>
                    <a:pt x="863" y="2159"/>
                  </a:lnTo>
                  <a:lnTo>
                    <a:pt x="4318" y="431"/>
                  </a:lnTo>
                  <a:lnTo>
                    <a:pt x="6403" y="0"/>
                  </a:lnTo>
                  <a:lnTo>
                    <a:pt x="5160089" y="0"/>
                  </a:lnTo>
                  <a:lnTo>
                    <a:pt x="5162174" y="431"/>
                  </a:lnTo>
                  <a:lnTo>
                    <a:pt x="5165629" y="2159"/>
                  </a:lnTo>
                  <a:lnTo>
                    <a:pt x="5166492" y="3201"/>
                  </a:lnTo>
                  <a:lnTo>
                    <a:pt x="5166492" y="5644"/>
                  </a:lnTo>
                  <a:lnTo>
                    <a:pt x="5165629" y="6687"/>
                  </a:lnTo>
                  <a:lnTo>
                    <a:pt x="5162174" y="8414"/>
                  </a:lnTo>
                  <a:lnTo>
                    <a:pt x="5160089" y="8846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83884" y="5086873"/>
              <a:ext cx="4703445" cy="917575"/>
            </a:xfrm>
            <a:custGeom>
              <a:avLst/>
              <a:gdLst/>
              <a:ahLst/>
              <a:cxnLst/>
              <a:rect l="l" t="t" r="r" b="b"/>
              <a:pathLst>
                <a:path w="4703445" h="917575">
                  <a:moveTo>
                    <a:pt x="4703145" y="917572"/>
                  </a:moveTo>
                  <a:lnTo>
                    <a:pt x="0" y="917572"/>
                  </a:lnTo>
                  <a:lnTo>
                    <a:pt x="451311" y="0"/>
                  </a:lnTo>
                  <a:lnTo>
                    <a:pt x="4251833" y="0"/>
                  </a:lnTo>
                  <a:lnTo>
                    <a:pt x="4703145" y="917572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3884" y="5086873"/>
              <a:ext cx="4703445" cy="917575"/>
            </a:xfrm>
            <a:custGeom>
              <a:avLst/>
              <a:gdLst/>
              <a:ahLst/>
              <a:cxnLst/>
              <a:rect l="l" t="t" r="r" b="b"/>
              <a:pathLst>
                <a:path w="4703445" h="917575">
                  <a:moveTo>
                    <a:pt x="451311" y="0"/>
                  </a:moveTo>
                  <a:lnTo>
                    <a:pt x="4251833" y="0"/>
                  </a:lnTo>
                  <a:lnTo>
                    <a:pt x="4703145" y="917572"/>
                  </a:lnTo>
                  <a:lnTo>
                    <a:pt x="0" y="917572"/>
                  </a:lnTo>
                  <a:lnTo>
                    <a:pt x="451311" y="0"/>
                  </a:lnTo>
                  <a:close/>
                </a:path>
              </a:pathLst>
            </a:custGeom>
            <a:ln w="9952">
              <a:solidFill>
                <a:srgbClr val="313D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855992" y="5372219"/>
            <a:ext cx="153035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-50" dirty="0">
                <a:solidFill>
                  <a:srgbClr val="CFD0D8"/>
                </a:solidFill>
                <a:latin typeface="Roboto Lt"/>
                <a:cs typeface="Roboto Lt"/>
              </a:rPr>
              <a:t>5</a:t>
            </a:r>
            <a:endParaRPr sz="1750">
              <a:latin typeface="Roboto Lt"/>
              <a:cs typeface="Roboto L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30668" y="5228990"/>
            <a:ext cx="2812415" cy="5842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50" spc="-10" dirty="0">
                <a:solidFill>
                  <a:srgbClr val="CFD0D8"/>
                </a:solidFill>
                <a:latin typeface="Roboto Lt"/>
                <a:cs typeface="Roboto Lt"/>
              </a:rPr>
              <a:t>ConcreteProduct</a:t>
            </a:r>
            <a:endParaRPr sz="155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Implementa</a:t>
            </a:r>
            <a:r>
              <a:rPr sz="12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la</a:t>
            </a:r>
            <a:r>
              <a:rPr sz="12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CFD0D8"/>
                </a:solidFill>
                <a:latin typeface="Roboto"/>
                <a:cs typeface="Roboto"/>
              </a:rPr>
              <a:t>interfaz</a:t>
            </a:r>
            <a:r>
              <a:rPr sz="12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250" spc="-10" dirty="0">
                <a:solidFill>
                  <a:srgbClr val="CFD0D8"/>
                </a:solidFill>
                <a:latin typeface="Roboto"/>
                <a:cs typeface="Roboto"/>
              </a:rPr>
              <a:t>AbstractProduct</a:t>
            </a:r>
            <a:endParaRPr sz="12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4" y="1216025"/>
            <a:ext cx="6951661" cy="5315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MX" cap="small" dirty="0"/>
              <a:t>I</a:t>
            </a:r>
            <a:r>
              <a:rPr dirty="0" err="1"/>
              <a:t>mplementación</a:t>
            </a:r>
            <a:r>
              <a:rPr spc="40" dirty="0"/>
              <a:t> </a:t>
            </a:r>
            <a:r>
              <a:rPr dirty="0"/>
              <a:t>y</a:t>
            </a:r>
            <a:r>
              <a:rPr spc="45" dirty="0"/>
              <a:t> </a:t>
            </a:r>
            <a:r>
              <a:rPr dirty="0" err="1"/>
              <a:t>Principios</a:t>
            </a:r>
            <a:r>
              <a:rPr spc="40" dirty="0"/>
              <a:t> </a:t>
            </a:r>
            <a:r>
              <a:rPr lang="es-MX" cap="small" spc="130" dirty="0"/>
              <a:t>SOLID</a:t>
            </a:r>
            <a:endParaRPr spc="130" dirty="0"/>
          </a:p>
        </p:txBody>
      </p:sp>
      <p:grpSp>
        <p:nvGrpSpPr>
          <p:cNvPr id="4" name="object 4"/>
          <p:cNvGrpSpPr/>
          <p:nvPr/>
        </p:nvGrpSpPr>
        <p:grpSpPr>
          <a:xfrm>
            <a:off x="600074" y="2124074"/>
            <a:ext cx="3295650" cy="3067050"/>
            <a:chOff x="600074" y="2124074"/>
            <a:chExt cx="3295650" cy="3067050"/>
          </a:xfrm>
        </p:grpSpPr>
        <p:sp>
          <p:nvSpPr>
            <p:cNvPr id="5" name="object 5"/>
            <p:cNvSpPr/>
            <p:nvPr/>
          </p:nvSpPr>
          <p:spPr>
            <a:xfrm>
              <a:off x="604837" y="2128837"/>
              <a:ext cx="3286125" cy="3057525"/>
            </a:xfrm>
            <a:custGeom>
              <a:avLst/>
              <a:gdLst/>
              <a:ahLst/>
              <a:cxnLst/>
              <a:rect l="l" t="t" r="r" b="b"/>
              <a:pathLst>
                <a:path w="3286125" h="3057525">
                  <a:moveTo>
                    <a:pt x="3234506" y="3057524"/>
                  </a:moveTo>
                  <a:lnTo>
                    <a:pt x="51617" y="3057524"/>
                  </a:lnTo>
                  <a:lnTo>
                    <a:pt x="48025" y="3057170"/>
                  </a:lnTo>
                  <a:lnTo>
                    <a:pt x="13615" y="3038778"/>
                  </a:lnTo>
                  <a:lnTo>
                    <a:pt x="0" y="3005906"/>
                  </a:lnTo>
                  <a:lnTo>
                    <a:pt x="0" y="3002279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3234506" y="0"/>
                  </a:lnTo>
                  <a:lnTo>
                    <a:pt x="3272508" y="18745"/>
                  </a:lnTo>
                  <a:lnTo>
                    <a:pt x="3286124" y="51617"/>
                  </a:lnTo>
                  <a:lnTo>
                    <a:pt x="3286124" y="3005906"/>
                  </a:lnTo>
                  <a:lnTo>
                    <a:pt x="3267378" y="3043908"/>
                  </a:lnTo>
                  <a:lnTo>
                    <a:pt x="3238099" y="3057170"/>
                  </a:lnTo>
                  <a:lnTo>
                    <a:pt x="3234506" y="3057524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4837" y="2128837"/>
              <a:ext cx="3286125" cy="3057525"/>
            </a:xfrm>
            <a:custGeom>
              <a:avLst/>
              <a:gdLst/>
              <a:ahLst/>
              <a:cxnLst/>
              <a:rect l="l" t="t" r="r" b="b"/>
              <a:pathLst>
                <a:path w="3286125" h="3057525">
                  <a:moveTo>
                    <a:pt x="0" y="3002279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3" y="48024"/>
                  </a:lnTo>
                  <a:lnTo>
                    <a:pt x="1061" y="44467"/>
                  </a:lnTo>
                  <a:lnTo>
                    <a:pt x="1769" y="40909"/>
                  </a:lnTo>
                  <a:lnTo>
                    <a:pt x="2817" y="37454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34103" y="4205"/>
                  </a:lnTo>
                  <a:lnTo>
                    <a:pt x="37454" y="2816"/>
                  </a:lnTo>
                  <a:lnTo>
                    <a:pt x="40909" y="1769"/>
                  </a:lnTo>
                  <a:lnTo>
                    <a:pt x="44467" y="1061"/>
                  </a:lnTo>
                  <a:lnTo>
                    <a:pt x="48025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3230879" y="0"/>
                  </a:lnTo>
                  <a:lnTo>
                    <a:pt x="3234506" y="0"/>
                  </a:lnTo>
                  <a:lnTo>
                    <a:pt x="3238099" y="353"/>
                  </a:lnTo>
                  <a:lnTo>
                    <a:pt x="3272508" y="18745"/>
                  </a:lnTo>
                  <a:lnTo>
                    <a:pt x="3276814" y="24552"/>
                  </a:lnTo>
                  <a:lnTo>
                    <a:pt x="3278829" y="27568"/>
                  </a:lnTo>
                  <a:lnTo>
                    <a:pt x="3286124" y="55244"/>
                  </a:lnTo>
                  <a:lnTo>
                    <a:pt x="3286124" y="3002279"/>
                  </a:lnTo>
                  <a:lnTo>
                    <a:pt x="3286124" y="3005906"/>
                  </a:lnTo>
                  <a:lnTo>
                    <a:pt x="3285770" y="3009499"/>
                  </a:lnTo>
                  <a:lnTo>
                    <a:pt x="3285062" y="3013057"/>
                  </a:lnTo>
                  <a:lnTo>
                    <a:pt x="3284355" y="3016614"/>
                  </a:lnTo>
                  <a:lnTo>
                    <a:pt x="3276814" y="3032971"/>
                  </a:lnTo>
                  <a:lnTo>
                    <a:pt x="3274798" y="3035988"/>
                  </a:lnTo>
                  <a:lnTo>
                    <a:pt x="3241657" y="3056463"/>
                  </a:lnTo>
                  <a:lnTo>
                    <a:pt x="3238099" y="3057170"/>
                  </a:lnTo>
                  <a:lnTo>
                    <a:pt x="3234506" y="3057524"/>
                  </a:lnTo>
                  <a:lnTo>
                    <a:pt x="3230879" y="3057524"/>
                  </a:lnTo>
                  <a:lnTo>
                    <a:pt x="55245" y="3057524"/>
                  </a:lnTo>
                  <a:lnTo>
                    <a:pt x="51617" y="3057524"/>
                  </a:lnTo>
                  <a:lnTo>
                    <a:pt x="48025" y="3057170"/>
                  </a:lnTo>
                  <a:lnTo>
                    <a:pt x="24552" y="3048213"/>
                  </a:lnTo>
                  <a:lnTo>
                    <a:pt x="21536" y="3046198"/>
                  </a:lnTo>
                  <a:lnTo>
                    <a:pt x="1061" y="3013057"/>
                  </a:lnTo>
                  <a:lnTo>
                    <a:pt x="353" y="3009499"/>
                  </a:lnTo>
                  <a:lnTo>
                    <a:pt x="0" y="3005906"/>
                  </a:lnTo>
                  <a:lnTo>
                    <a:pt x="0" y="3002279"/>
                  </a:lnTo>
                  <a:close/>
                </a:path>
              </a:pathLst>
            </a:custGeom>
            <a:ln w="9524">
              <a:solidFill>
                <a:srgbClr val="596E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1049" y="230504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7" y="514349"/>
                  </a:moveTo>
                  <a:lnTo>
                    <a:pt x="248752" y="514349"/>
                  </a:lnTo>
                  <a:lnTo>
                    <a:pt x="240349" y="513937"/>
                  </a:lnTo>
                  <a:lnTo>
                    <a:pt x="198741" y="507764"/>
                  </a:lnTo>
                  <a:lnTo>
                    <a:pt x="150976" y="491549"/>
                  </a:lnTo>
                  <a:lnTo>
                    <a:pt x="107292" y="466328"/>
                  </a:lnTo>
                  <a:lnTo>
                    <a:pt x="69368" y="433068"/>
                  </a:lnTo>
                  <a:lnTo>
                    <a:pt x="38662" y="393049"/>
                  </a:lnTo>
                  <a:lnTo>
                    <a:pt x="16352" y="347809"/>
                  </a:lnTo>
                  <a:lnTo>
                    <a:pt x="3298" y="299086"/>
                  </a:lnTo>
                  <a:lnTo>
                    <a:pt x="0" y="265597"/>
                  </a:lnTo>
                  <a:lnTo>
                    <a:pt x="0" y="257174"/>
                  </a:lnTo>
                  <a:lnTo>
                    <a:pt x="0" y="248752"/>
                  </a:lnTo>
                  <a:lnTo>
                    <a:pt x="6584" y="198741"/>
                  </a:lnTo>
                  <a:lnTo>
                    <a:pt x="22799" y="150976"/>
                  </a:lnTo>
                  <a:lnTo>
                    <a:pt x="48021" y="107292"/>
                  </a:lnTo>
                  <a:lnTo>
                    <a:pt x="81280" y="69368"/>
                  </a:lnTo>
                  <a:lnTo>
                    <a:pt x="121299" y="38661"/>
                  </a:lnTo>
                  <a:lnTo>
                    <a:pt x="166539" y="16352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65597" y="0"/>
                  </a:lnTo>
                  <a:lnTo>
                    <a:pt x="315608" y="6584"/>
                  </a:lnTo>
                  <a:lnTo>
                    <a:pt x="363373" y="22799"/>
                  </a:lnTo>
                  <a:lnTo>
                    <a:pt x="407056" y="48020"/>
                  </a:lnTo>
                  <a:lnTo>
                    <a:pt x="444980" y="81280"/>
                  </a:lnTo>
                  <a:lnTo>
                    <a:pt x="475687" y="121299"/>
                  </a:lnTo>
                  <a:lnTo>
                    <a:pt x="497996" y="166539"/>
                  </a:lnTo>
                  <a:lnTo>
                    <a:pt x="511051" y="215263"/>
                  </a:lnTo>
                  <a:lnTo>
                    <a:pt x="514349" y="248752"/>
                  </a:lnTo>
                  <a:lnTo>
                    <a:pt x="514349" y="265597"/>
                  </a:lnTo>
                  <a:lnTo>
                    <a:pt x="507765" y="315608"/>
                  </a:lnTo>
                  <a:lnTo>
                    <a:pt x="491550" y="363372"/>
                  </a:lnTo>
                  <a:lnTo>
                    <a:pt x="466328" y="407056"/>
                  </a:lnTo>
                  <a:lnTo>
                    <a:pt x="433069" y="444980"/>
                  </a:lnTo>
                  <a:lnTo>
                    <a:pt x="393050" y="475687"/>
                  </a:lnTo>
                  <a:lnTo>
                    <a:pt x="347809" y="497996"/>
                  </a:lnTo>
                  <a:lnTo>
                    <a:pt x="299086" y="511051"/>
                  </a:lnTo>
                  <a:lnTo>
                    <a:pt x="274000" y="513937"/>
                  </a:lnTo>
                  <a:lnTo>
                    <a:pt x="265597" y="514349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3463" y="2442799"/>
              <a:ext cx="192349" cy="24167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68349" y="2973387"/>
            <a:ext cx="2955290" cy="199834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464820">
              <a:lnSpc>
                <a:spcPct val="106100"/>
              </a:lnSpc>
              <a:spcBef>
                <a:spcPts val="15"/>
              </a:spcBef>
            </a:pPr>
            <a:r>
              <a:rPr sz="1650" dirty="0">
                <a:solidFill>
                  <a:srgbClr val="CFD0D8"/>
                </a:solidFill>
                <a:latin typeface="Roboto Lt"/>
                <a:cs typeface="Roboto Lt"/>
              </a:rPr>
              <a:t>Inversión</a:t>
            </a:r>
            <a:r>
              <a:rPr sz="1650" spc="70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650" dirty="0">
                <a:solidFill>
                  <a:srgbClr val="CFD0D8"/>
                </a:solidFill>
                <a:latin typeface="Roboto Lt"/>
                <a:cs typeface="Roboto Lt"/>
              </a:rPr>
              <a:t>de</a:t>
            </a:r>
            <a:r>
              <a:rPr sz="1650" spc="70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650" spc="-10" dirty="0">
                <a:solidFill>
                  <a:srgbClr val="CFD0D8"/>
                </a:solidFill>
                <a:latin typeface="Roboto Lt"/>
                <a:cs typeface="Roboto Lt"/>
              </a:rPr>
              <a:t>Dependencia (DIP)</a:t>
            </a:r>
            <a:endParaRPr sz="1650">
              <a:latin typeface="Roboto Lt"/>
              <a:cs typeface="Roboto Lt"/>
            </a:endParaRPr>
          </a:p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El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cliente</a:t>
            </a:r>
            <a:r>
              <a:rPr sz="1350" spc="-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depende</a:t>
            </a:r>
            <a:r>
              <a:rPr sz="1350" spc="-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sz="1350" spc="-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abstracciones</a:t>
            </a:r>
            <a:endParaRPr sz="1350">
              <a:latin typeface="Roboto"/>
              <a:cs typeface="Roboto"/>
            </a:endParaRPr>
          </a:p>
          <a:p>
            <a:pPr marL="12700" marR="5080" algn="just">
              <a:lnSpc>
                <a:spcPct val="134300"/>
              </a:lnSpc>
            </a:pP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(AbstractFactory,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AbstractProduct),</a:t>
            </a:r>
            <a:r>
              <a:rPr sz="13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no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sz="1350" spc="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implementaciones</a:t>
            </a:r>
            <a:r>
              <a:rPr sz="1350" spc="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concretas.</a:t>
            </a:r>
            <a:r>
              <a:rPr sz="1350" spc="1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CFD0D8"/>
                </a:solidFill>
                <a:latin typeface="Roboto"/>
                <a:cs typeface="Roboto"/>
              </a:rPr>
              <a:t>Esto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permite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inyectar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diferentes</a:t>
            </a:r>
            <a:r>
              <a:rPr sz="1350" spc="-4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fábricas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en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tiempo</a:t>
            </a:r>
            <a:r>
              <a:rPr sz="1350" spc="-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ejecución.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67174" y="2124074"/>
            <a:ext cx="3295650" cy="3067050"/>
            <a:chOff x="4067174" y="2124074"/>
            <a:chExt cx="3295650" cy="3067050"/>
          </a:xfrm>
        </p:grpSpPr>
        <p:sp>
          <p:nvSpPr>
            <p:cNvPr id="11" name="object 11"/>
            <p:cNvSpPr/>
            <p:nvPr/>
          </p:nvSpPr>
          <p:spPr>
            <a:xfrm>
              <a:off x="4071936" y="2128837"/>
              <a:ext cx="3286125" cy="3057525"/>
            </a:xfrm>
            <a:custGeom>
              <a:avLst/>
              <a:gdLst/>
              <a:ahLst/>
              <a:cxnLst/>
              <a:rect l="l" t="t" r="r" b="b"/>
              <a:pathLst>
                <a:path w="3286125" h="3057525">
                  <a:moveTo>
                    <a:pt x="3234507" y="3057524"/>
                  </a:moveTo>
                  <a:lnTo>
                    <a:pt x="51617" y="3057524"/>
                  </a:lnTo>
                  <a:lnTo>
                    <a:pt x="48024" y="3057170"/>
                  </a:lnTo>
                  <a:lnTo>
                    <a:pt x="13615" y="3038778"/>
                  </a:lnTo>
                  <a:lnTo>
                    <a:pt x="0" y="3005906"/>
                  </a:lnTo>
                  <a:lnTo>
                    <a:pt x="0" y="3002279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3234507" y="0"/>
                  </a:lnTo>
                  <a:lnTo>
                    <a:pt x="3272508" y="18745"/>
                  </a:lnTo>
                  <a:lnTo>
                    <a:pt x="3286125" y="51617"/>
                  </a:lnTo>
                  <a:lnTo>
                    <a:pt x="3286125" y="3005906"/>
                  </a:lnTo>
                  <a:lnTo>
                    <a:pt x="3267378" y="3043908"/>
                  </a:lnTo>
                  <a:lnTo>
                    <a:pt x="3238099" y="3057170"/>
                  </a:lnTo>
                  <a:lnTo>
                    <a:pt x="3234507" y="3057524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71936" y="2128837"/>
              <a:ext cx="3286125" cy="3057525"/>
            </a:xfrm>
            <a:custGeom>
              <a:avLst/>
              <a:gdLst/>
              <a:ahLst/>
              <a:cxnLst/>
              <a:rect l="l" t="t" r="r" b="b"/>
              <a:pathLst>
                <a:path w="3286125" h="3057525">
                  <a:moveTo>
                    <a:pt x="0" y="3002279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3" y="48024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34103" y="4205"/>
                  </a:lnTo>
                  <a:lnTo>
                    <a:pt x="37454" y="2816"/>
                  </a:lnTo>
                  <a:lnTo>
                    <a:pt x="40909" y="1769"/>
                  </a:lnTo>
                  <a:lnTo>
                    <a:pt x="44466" y="1061"/>
                  </a:lnTo>
                  <a:lnTo>
                    <a:pt x="48024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3230880" y="0"/>
                  </a:lnTo>
                  <a:lnTo>
                    <a:pt x="3234507" y="0"/>
                  </a:lnTo>
                  <a:lnTo>
                    <a:pt x="3238099" y="353"/>
                  </a:lnTo>
                  <a:lnTo>
                    <a:pt x="3241656" y="1061"/>
                  </a:lnTo>
                  <a:lnTo>
                    <a:pt x="3245214" y="1769"/>
                  </a:lnTo>
                  <a:lnTo>
                    <a:pt x="3261571" y="9310"/>
                  </a:lnTo>
                  <a:lnTo>
                    <a:pt x="3264587" y="11325"/>
                  </a:lnTo>
                  <a:lnTo>
                    <a:pt x="3267378" y="13615"/>
                  </a:lnTo>
                  <a:lnTo>
                    <a:pt x="3269943" y="16180"/>
                  </a:lnTo>
                  <a:lnTo>
                    <a:pt x="3272508" y="18745"/>
                  </a:lnTo>
                  <a:lnTo>
                    <a:pt x="3281918" y="34103"/>
                  </a:lnTo>
                  <a:lnTo>
                    <a:pt x="3283307" y="37454"/>
                  </a:lnTo>
                  <a:lnTo>
                    <a:pt x="3284355" y="40909"/>
                  </a:lnTo>
                  <a:lnTo>
                    <a:pt x="3285062" y="44467"/>
                  </a:lnTo>
                  <a:lnTo>
                    <a:pt x="3285770" y="48024"/>
                  </a:lnTo>
                  <a:lnTo>
                    <a:pt x="3286125" y="51617"/>
                  </a:lnTo>
                  <a:lnTo>
                    <a:pt x="3286125" y="55244"/>
                  </a:lnTo>
                  <a:lnTo>
                    <a:pt x="3286125" y="3002279"/>
                  </a:lnTo>
                  <a:lnTo>
                    <a:pt x="3286125" y="3005906"/>
                  </a:lnTo>
                  <a:lnTo>
                    <a:pt x="3285770" y="3009499"/>
                  </a:lnTo>
                  <a:lnTo>
                    <a:pt x="3285062" y="3013057"/>
                  </a:lnTo>
                  <a:lnTo>
                    <a:pt x="3284355" y="3016614"/>
                  </a:lnTo>
                  <a:lnTo>
                    <a:pt x="3283307" y="3020068"/>
                  </a:lnTo>
                  <a:lnTo>
                    <a:pt x="3281918" y="3023420"/>
                  </a:lnTo>
                  <a:lnTo>
                    <a:pt x="3280530" y="3026771"/>
                  </a:lnTo>
                  <a:lnTo>
                    <a:pt x="3278828" y="3029954"/>
                  </a:lnTo>
                  <a:lnTo>
                    <a:pt x="3276813" y="3032971"/>
                  </a:lnTo>
                  <a:lnTo>
                    <a:pt x="3274798" y="3035988"/>
                  </a:lnTo>
                  <a:lnTo>
                    <a:pt x="3261571" y="3048213"/>
                  </a:lnTo>
                  <a:lnTo>
                    <a:pt x="3258555" y="3050229"/>
                  </a:lnTo>
                  <a:lnTo>
                    <a:pt x="3255371" y="3051930"/>
                  </a:lnTo>
                  <a:lnTo>
                    <a:pt x="3252020" y="3053319"/>
                  </a:lnTo>
                  <a:lnTo>
                    <a:pt x="3248668" y="3054707"/>
                  </a:lnTo>
                  <a:lnTo>
                    <a:pt x="3245214" y="3055755"/>
                  </a:lnTo>
                  <a:lnTo>
                    <a:pt x="3241656" y="3056463"/>
                  </a:lnTo>
                  <a:lnTo>
                    <a:pt x="3238099" y="3057170"/>
                  </a:lnTo>
                  <a:lnTo>
                    <a:pt x="3234507" y="3057524"/>
                  </a:lnTo>
                  <a:lnTo>
                    <a:pt x="3230880" y="3057524"/>
                  </a:lnTo>
                  <a:lnTo>
                    <a:pt x="55245" y="3057524"/>
                  </a:lnTo>
                  <a:lnTo>
                    <a:pt x="51617" y="3057524"/>
                  </a:lnTo>
                  <a:lnTo>
                    <a:pt x="48024" y="3057170"/>
                  </a:lnTo>
                  <a:lnTo>
                    <a:pt x="24552" y="3048213"/>
                  </a:lnTo>
                  <a:lnTo>
                    <a:pt x="21536" y="3046198"/>
                  </a:lnTo>
                  <a:lnTo>
                    <a:pt x="9310" y="3032971"/>
                  </a:lnTo>
                  <a:lnTo>
                    <a:pt x="7294" y="3029954"/>
                  </a:lnTo>
                  <a:lnTo>
                    <a:pt x="1061" y="3013057"/>
                  </a:lnTo>
                  <a:lnTo>
                    <a:pt x="353" y="3009499"/>
                  </a:lnTo>
                  <a:lnTo>
                    <a:pt x="0" y="3005906"/>
                  </a:lnTo>
                  <a:lnTo>
                    <a:pt x="0" y="3002279"/>
                  </a:lnTo>
                  <a:close/>
                </a:path>
              </a:pathLst>
            </a:custGeom>
            <a:ln w="9524">
              <a:solidFill>
                <a:srgbClr val="2437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48149" y="230504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7" y="514349"/>
                  </a:moveTo>
                  <a:lnTo>
                    <a:pt x="248752" y="514349"/>
                  </a:lnTo>
                  <a:lnTo>
                    <a:pt x="240350" y="513937"/>
                  </a:lnTo>
                  <a:lnTo>
                    <a:pt x="198741" y="507764"/>
                  </a:lnTo>
                  <a:lnTo>
                    <a:pt x="150976" y="491549"/>
                  </a:lnTo>
                  <a:lnTo>
                    <a:pt x="107292" y="466328"/>
                  </a:lnTo>
                  <a:lnTo>
                    <a:pt x="69368" y="433068"/>
                  </a:lnTo>
                  <a:lnTo>
                    <a:pt x="38661" y="393049"/>
                  </a:lnTo>
                  <a:lnTo>
                    <a:pt x="16352" y="347809"/>
                  </a:lnTo>
                  <a:lnTo>
                    <a:pt x="3298" y="299086"/>
                  </a:lnTo>
                  <a:lnTo>
                    <a:pt x="0" y="265597"/>
                  </a:lnTo>
                  <a:lnTo>
                    <a:pt x="0" y="257174"/>
                  </a:lnTo>
                  <a:lnTo>
                    <a:pt x="0" y="248752"/>
                  </a:lnTo>
                  <a:lnTo>
                    <a:pt x="6584" y="198741"/>
                  </a:lnTo>
                  <a:lnTo>
                    <a:pt x="22799" y="150976"/>
                  </a:lnTo>
                  <a:lnTo>
                    <a:pt x="48020" y="107292"/>
                  </a:lnTo>
                  <a:lnTo>
                    <a:pt x="81280" y="69368"/>
                  </a:lnTo>
                  <a:lnTo>
                    <a:pt x="121298" y="38661"/>
                  </a:lnTo>
                  <a:lnTo>
                    <a:pt x="166539" y="16352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65597" y="0"/>
                  </a:lnTo>
                  <a:lnTo>
                    <a:pt x="315607" y="6584"/>
                  </a:lnTo>
                  <a:lnTo>
                    <a:pt x="363372" y="22799"/>
                  </a:lnTo>
                  <a:lnTo>
                    <a:pt x="407056" y="48020"/>
                  </a:lnTo>
                  <a:lnTo>
                    <a:pt x="444980" y="81280"/>
                  </a:lnTo>
                  <a:lnTo>
                    <a:pt x="475687" y="121299"/>
                  </a:lnTo>
                  <a:lnTo>
                    <a:pt x="497996" y="166539"/>
                  </a:lnTo>
                  <a:lnTo>
                    <a:pt x="511051" y="215263"/>
                  </a:lnTo>
                  <a:lnTo>
                    <a:pt x="514349" y="248752"/>
                  </a:lnTo>
                  <a:lnTo>
                    <a:pt x="514349" y="265597"/>
                  </a:lnTo>
                  <a:lnTo>
                    <a:pt x="507764" y="315608"/>
                  </a:lnTo>
                  <a:lnTo>
                    <a:pt x="491549" y="363372"/>
                  </a:lnTo>
                  <a:lnTo>
                    <a:pt x="466328" y="407056"/>
                  </a:lnTo>
                  <a:lnTo>
                    <a:pt x="433068" y="444980"/>
                  </a:lnTo>
                  <a:lnTo>
                    <a:pt x="393049" y="475687"/>
                  </a:lnTo>
                  <a:lnTo>
                    <a:pt x="347809" y="497996"/>
                  </a:lnTo>
                  <a:lnTo>
                    <a:pt x="299086" y="511051"/>
                  </a:lnTo>
                  <a:lnTo>
                    <a:pt x="274000" y="513937"/>
                  </a:lnTo>
                  <a:lnTo>
                    <a:pt x="265597" y="514349"/>
                  </a:lnTo>
                  <a:close/>
                </a:path>
              </a:pathLst>
            </a:custGeom>
            <a:solidFill>
              <a:srgbClr val="2437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5899" y="2450063"/>
              <a:ext cx="242101" cy="22190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235450" y="2973387"/>
            <a:ext cx="2813050" cy="17221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CFD0D8"/>
                </a:solidFill>
                <a:latin typeface="Roboto Lt"/>
                <a:cs typeface="Roboto Lt"/>
              </a:rPr>
              <a:t>Responsabilidad</a:t>
            </a:r>
            <a:r>
              <a:rPr sz="1650" spc="6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650" dirty="0">
                <a:solidFill>
                  <a:srgbClr val="CFD0D8"/>
                </a:solidFill>
                <a:latin typeface="Roboto Lt"/>
                <a:cs typeface="Roboto Lt"/>
              </a:rPr>
              <a:t>Única</a:t>
            </a:r>
            <a:r>
              <a:rPr sz="1650" spc="6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650" spc="-10" dirty="0">
                <a:solidFill>
                  <a:srgbClr val="CFD0D8"/>
                </a:solidFill>
                <a:latin typeface="Roboto Lt"/>
                <a:cs typeface="Roboto Lt"/>
              </a:rPr>
              <a:t>(SRP)</a:t>
            </a:r>
            <a:endParaRPr sz="1650">
              <a:latin typeface="Roboto Lt"/>
              <a:cs typeface="Roboto Lt"/>
            </a:endParaRPr>
          </a:p>
          <a:p>
            <a:pPr marL="12700" marR="26034">
              <a:lnSpc>
                <a:spcPct val="134300"/>
              </a:lnSpc>
              <a:spcBef>
                <a:spcPts val="540"/>
              </a:spcBef>
            </a:pP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Cada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fábrica</a:t>
            </a:r>
            <a:r>
              <a:rPr sz="1350" spc="-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concreta</a:t>
            </a:r>
            <a:r>
              <a:rPr sz="1350" spc="-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se</a:t>
            </a:r>
            <a:r>
              <a:rPr sz="1350" spc="-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encarga exclusivamente</a:t>
            </a:r>
            <a:r>
              <a:rPr sz="13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sz="13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crear</a:t>
            </a:r>
            <a:r>
              <a:rPr sz="13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una</a:t>
            </a:r>
            <a:r>
              <a:rPr sz="13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familia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específica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sz="1350" spc="-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productos,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respetando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el</a:t>
            </a:r>
            <a:r>
              <a:rPr sz="1350" spc="-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principio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que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una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clase</a:t>
            </a:r>
            <a:r>
              <a:rPr sz="1350" spc="-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CFD0D8"/>
                </a:solidFill>
                <a:latin typeface="Roboto"/>
                <a:cs typeface="Roboto"/>
              </a:rPr>
              <a:t>debe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tener</a:t>
            </a:r>
            <a:r>
              <a:rPr sz="1350" spc="-6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una</a:t>
            </a:r>
            <a:r>
              <a:rPr sz="1350" spc="-6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única</a:t>
            </a:r>
            <a:r>
              <a:rPr sz="1350" spc="-6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razón</a:t>
            </a:r>
            <a:r>
              <a:rPr sz="1350" spc="-6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para</a:t>
            </a:r>
            <a:r>
              <a:rPr sz="1350" spc="-6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cambiar.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534273" y="2124074"/>
            <a:ext cx="3295650" cy="3067050"/>
            <a:chOff x="7534273" y="2124074"/>
            <a:chExt cx="3295650" cy="3067050"/>
          </a:xfrm>
        </p:grpSpPr>
        <p:sp>
          <p:nvSpPr>
            <p:cNvPr id="17" name="object 17"/>
            <p:cNvSpPr/>
            <p:nvPr/>
          </p:nvSpPr>
          <p:spPr>
            <a:xfrm>
              <a:off x="7539035" y="2128837"/>
              <a:ext cx="3286125" cy="3057525"/>
            </a:xfrm>
            <a:custGeom>
              <a:avLst/>
              <a:gdLst/>
              <a:ahLst/>
              <a:cxnLst/>
              <a:rect l="l" t="t" r="r" b="b"/>
              <a:pathLst>
                <a:path w="3286125" h="3057525">
                  <a:moveTo>
                    <a:pt x="3234506" y="3057524"/>
                  </a:moveTo>
                  <a:lnTo>
                    <a:pt x="51617" y="3057524"/>
                  </a:lnTo>
                  <a:lnTo>
                    <a:pt x="48024" y="3057170"/>
                  </a:lnTo>
                  <a:lnTo>
                    <a:pt x="13615" y="3038778"/>
                  </a:lnTo>
                  <a:lnTo>
                    <a:pt x="0" y="3005906"/>
                  </a:lnTo>
                  <a:lnTo>
                    <a:pt x="0" y="3002279"/>
                  </a:lnTo>
                  <a:lnTo>
                    <a:pt x="0" y="51617"/>
                  </a:lnTo>
                  <a:lnTo>
                    <a:pt x="18744" y="13615"/>
                  </a:lnTo>
                  <a:lnTo>
                    <a:pt x="51617" y="0"/>
                  </a:lnTo>
                  <a:lnTo>
                    <a:pt x="3234506" y="0"/>
                  </a:lnTo>
                  <a:lnTo>
                    <a:pt x="3272507" y="18745"/>
                  </a:lnTo>
                  <a:lnTo>
                    <a:pt x="3286124" y="51617"/>
                  </a:lnTo>
                  <a:lnTo>
                    <a:pt x="3286124" y="3005906"/>
                  </a:lnTo>
                  <a:lnTo>
                    <a:pt x="3267378" y="3043908"/>
                  </a:lnTo>
                  <a:lnTo>
                    <a:pt x="3238099" y="3057170"/>
                  </a:lnTo>
                  <a:lnTo>
                    <a:pt x="3234506" y="3057524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39035" y="2128837"/>
              <a:ext cx="3286125" cy="3057525"/>
            </a:xfrm>
            <a:custGeom>
              <a:avLst/>
              <a:gdLst/>
              <a:ahLst/>
              <a:cxnLst/>
              <a:rect l="l" t="t" r="r" b="b"/>
              <a:pathLst>
                <a:path w="3286125" h="3057525">
                  <a:moveTo>
                    <a:pt x="0" y="3002279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1" y="44467"/>
                  </a:lnTo>
                  <a:lnTo>
                    <a:pt x="1769" y="40909"/>
                  </a:lnTo>
                  <a:lnTo>
                    <a:pt x="2817" y="37454"/>
                  </a:lnTo>
                  <a:lnTo>
                    <a:pt x="4205" y="34103"/>
                  </a:lnTo>
                  <a:lnTo>
                    <a:pt x="5593" y="30752"/>
                  </a:lnTo>
                  <a:lnTo>
                    <a:pt x="16180" y="16180"/>
                  </a:lnTo>
                  <a:lnTo>
                    <a:pt x="18744" y="13615"/>
                  </a:lnTo>
                  <a:lnTo>
                    <a:pt x="21535" y="11325"/>
                  </a:lnTo>
                  <a:lnTo>
                    <a:pt x="24552" y="9310"/>
                  </a:lnTo>
                  <a:lnTo>
                    <a:pt x="27568" y="7294"/>
                  </a:lnTo>
                  <a:lnTo>
                    <a:pt x="30751" y="5593"/>
                  </a:lnTo>
                  <a:lnTo>
                    <a:pt x="34103" y="4205"/>
                  </a:lnTo>
                  <a:lnTo>
                    <a:pt x="37454" y="2816"/>
                  </a:lnTo>
                  <a:lnTo>
                    <a:pt x="40908" y="1769"/>
                  </a:lnTo>
                  <a:lnTo>
                    <a:pt x="44467" y="1061"/>
                  </a:lnTo>
                  <a:lnTo>
                    <a:pt x="48024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3230879" y="0"/>
                  </a:lnTo>
                  <a:lnTo>
                    <a:pt x="3234506" y="0"/>
                  </a:lnTo>
                  <a:lnTo>
                    <a:pt x="3238099" y="353"/>
                  </a:lnTo>
                  <a:lnTo>
                    <a:pt x="3241657" y="1061"/>
                  </a:lnTo>
                  <a:lnTo>
                    <a:pt x="3245215" y="1769"/>
                  </a:lnTo>
                  <a:lnTo>
                    <a:pt x="3248669" y="2816"/>
                  </a:lnTo>
                  <a:lnTo>
                    <a:pt x="3252020" y="4204"/>
                  </a:lnTo>
                  <a:lnTo>
                    <a:pt x="3255372" y="5593"/>
                  </a:lnTo>
                  <a:lnTo>
                    <a:pt x="3258556" y="7294"/>
                  </a:lnTo>
                  <a:lnTo>
                    <a:pt x="3261571" y="9310"/>
                  </a:lnTo>
                  <a:lnTo>
                    <a:pt x="3264588" y="11325"/>
                  </a:lnTo>
                  <a:lnTo>
                    <a:pt x="3276813" y="24552"/>
                  </a:lnTo>
                  <a:lnTo>
                    <a:pt x="3278828" y="27568"/>
                  </a:lnTo>
                  <a:lnTo>
                    <a:pt x="3286125" y="55244"/>
                  </a:lnTo>
                  <a:lnTo>
                    <a:pt x="3286125" y="3002279"/>
                  </a:lnTo>
                  <a:lnTo>
                    <a:pt x="3286124" y="3005906"/>
                  </a:lnTo>
                  <a:lnTo>
                    <a:pt x="3285770" y="3009499"/>
                  </a:lnTo>
                  <a:lnTo>
                    <a:pt x="3285062" y="3013057"/>
                  </a:lnTo>
                  <a:lnTo>
                    <a:pt x="3284354" y="3016614"/>
                  </a:lnTo>
                  <a:lnTo>
                    <a:pt x="3276813" y="3032971"/>
                  </a:lnTo>
                  <a:lnTo>
                    <a:pt x="3274798" y="3035988"/>
                  </a:lnTo>
                  <a:lnTo>
                    <a:pt x="3261571" y="3048213"/>
                  </a:lnTo>
                  <a:lnTo>
                    <a:pt x="3258556" y="3050229"/>
                  </a:lnTo>
                  <a:lnTo>
                    <a:pt x="3255372" y="3051930"/>
                  </a:lnTo>
                  <a:lnTo>
                    <a:pt x="3252020" y="3053319"/>
                  </a:lnTo>
                  <a:lnTo>
                    <a:pt x="3248669" y="3054707"/>
                  </a:lnTo>
                  <a:lnTo>
                    <a:pt x="3245215" y="3055755"/>
                  </a:lnTo>
                  <a:lnTo>
                    <a:pt x="3241657" y="3056463"/>
                  </a:lnTo>
                  <a:lnTo>
                    <a:pt x="3238099" y="3057170"/>
                  </a:lnTo>
                  <a:lnTo>
                    <a:pt x="3234506" y="3057524"/>
                  </a:lnTo>
                  <a:lnTo>
                    <a:pt x="3230879" y="3057524"/>
                  </a:lnTo>
                  <a:lnTo>
                    <a:pt x="55245" y="3057524"/>
                  </a:lnTo>
                  <a:lnTo>
                    <a:pt x="51617" y="3057524"/>
                  </a:lnTo>
                  <a:lnTo>
                    <a:pt x="48024" y="3057170"/>
                  </a:lnTo>
                  <a:lnTo>
                    <a:pt x="44466" y="3056463"/>
                  </a:lnTo>
                  <a:lnTo>
                    <a:pt x="40908" y="3055755"/>
                  </a:lnTo>
                  <a:lnTo>
                    <a:pt x="37454" y="3054707"/>
                  </a:lnTo>
                  <a:lnTo>
                    <a:pt x="34103" y="3053319"/>
                  </a:lnTo>
                  <a:lnTo>
                    <a:pt x="30751" y="3051930"/>
                  </a:lnTo>
                  <a:lnTo>
                    <a:pt x="27568" y="3050229"/>
                  </a:lnTo>
                  <a:lnTo>
                    <a:pt x="24552" y="3048213"/>
                  </a:lnTo>
                  <a:lnTo>
                    <a:pt x="21535" y="3046198"/>
                  </a:lnTo>
                  <a:lnTo>
                    <a:pt x="9309" y="3032971"/>
                  </a:lnTo>
                  <a:lnTo>
                    <a:pt x="7294" y="3029954"/>
                  </a:lnTo>
                  <a:lnTo>
                    <a:pt x="5592" y="3026771"/>
                  </a:lnTo>
                  <a:lnTo>
                    <a:pt x="4205" y="3023420"/>
                  </a:lnTo>
                  <a:lnTo>
                    <a:pt x="2816" y="3020068"/>
                  </a:lnTo>
                  <a:lnTo>
                    <a:pt x="1769" y="3016614"/>
                  </a:lnTo>
                  <a:lnTo>
                    <a:pt x="1061" y="3013057"/>
                  </a:lnTo>
                  <a:lnTo>
                    <a:pt x="354" y="3009499"/>
                  </a:lnTo>
                  <a:lnTo>
                    <a:pt x="0" y="3005906"/>
                  </a:lnTo>
                  <a:lnTo>
                    <a:pt x="0" y="3002279"/>
                  </a:lnTo>
                  <a:close/>
                </a:path>
              </a:pathLst>
            </a:custGeom>
            <a:ln w="9524">
              <a:solidFill>
                <a:srgbClr val="596E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15249" y="230504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7" y="514349"/>
                  </a:moveTo>
                  <a:lnTo>
                    <a:pt x="248751" y="514349"/>
                  </a:lnTo>
                  <a:lnTo>
                    <a:pt x="240349" y="513937"/>
                  </a:lnTo>
                  <a:lnTo>
                    <a:pt x="198740" y="507764"/>
                  </a:lnTo>
                  <a:lnTo>
                    <a:pt x="150975" y="491549"/>
                  </a:lnTo>
                  <a:lnTo>
                    <a:pt x="107292" y="466328"/>
                  </a:lnTo>
                  <a:lnTo>
                    <a:pt x="69369" y="433068"/>
                  </a:lnTo>
                  <a:lnTo>
                    <a:pt x="38662" y="393049"/>
                  </a:lnTo>
                  <a:lnTo>
                    <a:pt x="16352" y="347809"/>
                  </a:lnTo>
                  <a:lnTo>
                    <a:pt x="3298" y="299086"/>
                  </a:lnTo>
                  <a:lnTo>
                    <a:pt x="0" y="257174"/>
                  </a:lnTo>
                  <a:lnTo>
                    <a:pt x="0" y="248752"/>
                  </a:lnTo>
                  <a:lnTo>
                    <a:pt x="6584" y="198741"/>
                  </a:lnTo>
                  <a:lnTo>
                    <a:pt x="22798" y="150976"/>
                  </a:lnTo>
                  <a:lnTo>
                    <a:pt x="48020" y="107292"/>
                  </a:lnTo>
                  <a:lnTo>
                    <a:pt x="81280" y="69368"/>
                  </a:lnTo>
                  <a:lnTo>
                    <a:pt x="121298" y="38661"/>
                  </a:lnTo>
                  <a:lnTo>
                    <a:pt x="166539" y="16352"/>
                  </a:lnTo>
                  <a:lnTo>
                    <a:pt x="215262" y="3298"/>
                  </a:lnTo>
                  <a:lnTo>
                    <a:pt x="248751" y="0"/>
                  </a:lnTo>
                  <a:lnTo>
                    <a:pt x="265597" y="0"/>
                  </a:lnTo>
                  <a:lnTo>
                    <a:pt x="315607" y="6584"/>
                  </a:lnTo>
                  <a:lnTo>
                    <a:pt x="363372" y="22799"/>
                  </a:lnTo>
                  <a:lnTo>
                    <a:pt x="407056" y="48020"/>
                  </a:lnTo>
                  <a:lnTo>
                    <a:pt x="444980" y="81280"/>
                  </a:lnTo>
                  <a:lnTo>
                    <a:pt x="475686" y="121299"/>
                  </a:lnTo>
                  <a:lnTo>
                    <a:pt x="497995" y="166539"/>
                  </a:lnTo>
                  <a:lnTo>
                    <a:pt x="511050" y="215263"/>
                  </a:lnTo>
                  <a:lnTo>
                    <a:pt x="514350" y="248752"/>
                  </a:lnTo>
                  <a:lnTo>
                    <a:pt x="514350" y="265597"/>
                  </a:lnTo>
                  <a:lnTo>
                    <a:pt x="507764" y="315608"/>
                  </a:lnTo>
                  <a:lnTo>
                    <a:pt x="491549" y="363372"/>
                  </a:lnTo>
                  <a:lnTo>
                    <a:pt x="466327" y="407056"/>
                  </a:lnTo>
                  <a:lnTo>
                    <a:pt x="433068" y="444980"/>
                  </a:lnTo>
                  <a:lnTo>
                    <a:pt x="393049" y="475687"/>
                  </a:lnTo>
                  <a:lnTo>
                    <a:pt x="347808" y="497996"/>
                  </a:lnTo>
                  <a:lnTo>
                    <a:pt x="299085" y="511051"/>
                  </a:lnTo>
                  <a:lnTo>
                    <a:pt x="265597" y="514349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82989" y="2442798"/>
              <a:ext cx="181698" cy="24168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702550" y="2973387"/>
            <a:ext cx="2815590" cy="19983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CFD0D8"/>
                </a:solidFill>
                <a:latin typeface="Roboto Lt"/>
                <a:cs typeface="Roboto Lt"/>
              </a:rPr>
              <a:t>Abierto/Cerrado</a:t>
            </a:r>
            <a:r>
              <a:rPr sz="1650" spc="225" dirty="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sz="1650" spc="-10" dirty="0">
                <a:solidFill>
                  <a:srgbClr val="CFD0D8"/>
                </a:solidFill>
                <a:latin typeface="Roboto Lt"/>
                <a:cs typeface="Roboto Lt"/>
              </a:rPr>
              <a:t>(OCP)</a:t>
            </a:r>
            <a:endParaRPr sz="1650">
              <a:latin typeface="Roboto Lt"/>
              <a:cs typeface="Roboto Lt"/>
            </a:endParaRPr>
          </a:p>
          <a:p>
            <a:pPr marL="12700" marR="6985" algn="just">
              <a:lnSpc>
                <a:spcPct val="134300"/>
              </a:lnSpc>
              <a:spcBef>
                <a:spcPts val="540"/>
              </a:spcBef>
            </a:pP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Se</a:t>
            </a:r>
            <a:r>
              <a:rPr sz="1350" spc="-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pueden</a:t>
            </a:r>
            <a:r>
              <a:rPr sz="1350" spc="-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añadir</a:t>
            </a:r>
            <a:r>
              <a:rPr sz="1350" spc="-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nuevas</a:t>
            </a:r>
            <a:r>
              <a:rPr sz="1350" spc="-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familias</a:t>
            </a:r>
            <a:r>
              <a:rPr sz="1350" spc="-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productos</a:t>
            </a:r>
            <a:r>
              <a:rPr sz="1350" spc="-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(nuevas</a:t>
            </a:r>
            <a:r>
              <a:rPr sz="1350" spc="-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fábricas)</a:t>
            </a:r>
            <a:r>
              <a:rPr sz="1350" spc="-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sin</a:t>
            </a:r>
            <a:endParaRPr sz="1350">
              <a:latin typeface="Roboto"/>
              <a:cs typeface="Roboto"/>
            </a:endParaRPr>
          </a:p>
          <a:p>
            <a:pPr marL="12700" marR="5080" algn="just">
              <a:lnSpc>
                <a:spcPct val="131900"/>
              </a:lnSpc>
              <a:spcBef>
                <a:spcPts val="40"/>
              </a:spcBef>
            </a:pP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modificar</a:t>
            </a:r>
            <a:r>
              <a:rPr sz="13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el</a:t>
            </a:r>
            <a:r>
              <a:rPr sz="13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código</a:t>
            </a:r>
            <a:r>
              <a:rPr sz="13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cliente</a:t>
            </a:r>
            <a:r>
              <a:rPr sz="1350" spc="-3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existente,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cumpliendo</a:t>
            </a:r>
            <a:r>
              <a:rPr sz="1350" spc="-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que</a:t>
            </a:r>
            <a:r>
              <a:rPr sz="1350" spc="-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las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entidades</a:t>
            </a:r>
            <a:r>
              <a:rPr sz="1350" spc="-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deben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estar</a:t>
            </a:r>
            <a:r>
              <a:rPr sz="1350" spc="-6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abiertas</a:t>
            </a:r>
            <a:r>
              <a:rPr sz="1350" spc="-6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para</a:t>
            </a:r>
            <a:r>
              <a:rPr sz="1350" spc="-6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extensión</a:t>
            </a:r>
            <a:r>
              <a:rPr sz="1350" spc="-6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CFD0D8"/>
                </a:solidFill>
                <a:latin typeface="Roboto"/>
                <a:cs typeface="Roboto"/>
              </a:rPr>
              <a:t>pero</a:t>
            </a:r>
            <a:endParaRPr sz="1350">
              <a:latin typeface="Roboto"/>
              <a:cs typeface="Roboto"/>
            </a:endParaRPr>
          </a:p>
          <a:p>
            <a:pPr marL="12700" algn="just">
              <a:lnSpc>
                <a:spcPct val="100000"/>
              </a:lnSpc>
              <a:spcBef>
                <a:spcPts val="555"/>
              </a:spcBef>
            </a:pP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cerradas</a:t>
            </a:r>
            <a:r>
              <a:rPr sz="1350" spc="-6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para</a:t>
            </a:r>
            <a:r>
              <a:rPr sz="1350" spc="-5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modificación.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1331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25"/>
              </a:spcBef>
            </a:pPr>
            <a:r>
              <a:rPr dirty="0"/>
              <a:t>Ejemplo</a:t>
            </a:r>
            <a:r>
              <a:rPr spc="25" dirty="0"/>
              <a:t> </a:t>
            </a:r>
            <a:r>
              <a:rPr dirty="0"/>
              <a:t>Práctico:</a:t>
            </a:r>
            <a:r>
              <a:rPr spc="35" dirty="0"/>
              <a:t> </a:t>
            </a:r>
            <a:r>
              <a:rPr dirty="0"/>
              <a:t>Creación</a:t>
            </a:r>
            <a:r>
              <a:rPr spc="40" dirty="0"/>
              <a:t> </a:t>
            </a:r>
            <a:r>
              <a:rPr dirty="0"/>
              <a:t>de</a:t>
            </a:r>
            <a:r>
              <a:rPr spc="40" dirty="0"/>
              <a:t> </a:t>
            </a:r>
            <a:r>
              <a:rPr dirty="0"/>
              <a:t>Interfaces</a:t>
            </a:r>
            <a:r>
              <a:rPr spc="40" dirty="0"/>
              <a:t> </a:t>
            </a:r>
            <a:r>
              <a:rPr spc="-10" dirty="0"/>
              <a:t>Gráficas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7375" y="2430462"/>
            <a:ext cx="3318510" cy="23412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FFFFFF"/>
                </a:solidFill>
                <a:latin typeface="Roboto Lt"/>
                <a:cs typeface="Roboto Lt"/>
              </a:rPr>
              <a:t>El</a:t>
            </a:r>
            <a:r>
              <a:rPr sz="1650" spc="45" dirty="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Roboto Lt"/>
                <a:cs typeface="Roboto Lt"/>
              </a:rPr>
              <a:t>Problema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3500"/>
              </a:lnSpc>
              <a:spcBef>
                <a:spcPts val="1080"/>
              </a:spcBef>
            </a:pP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Una</a:t>
            </a:r>
            <a:r>
              <a:rPr sz="1350" spc="-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empresa</a:t>
            </a:r>
            <a:r>
              <a:rPr sz="1350" spc="-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diseño</a:t>
            </a:r>
            <a:r>
              <a:rPr sz="1350" spc="-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sz="1350" spc="-5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interiores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necesita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un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sistema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en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Java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modo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consola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que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permita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crear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diferentes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tipos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ambientes</a:t>
            </a:r>
            <a:r>
              <a:rPr sz="1350" spc="-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sz="1350" spc="-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oficina</a:t>
            </a:r>
            <a:r>
              <a:rPr sz="1350" spc="-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según</a:t>
            </a:r>
            <a:r>
              <a:rPr sz="1350" spc="-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el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estilo corporativo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del</a:t>
            </a:r>
            <a:r>
              <a:rPr sz="1350" spc="-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cliente.</a:t>
            </a:r>
            <a:r>
              <a:rPr sz="1350" spc="-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Cada</a:t>
            </a:r>
            <a:r>
              <a:rPr sz="1350" spc="-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ambiente</a:t>
            </a:r>
            <a:r>
              <a:rPr sz="1350" spc="-2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oficina</a:t>
            </a:r>
            <a:r>
              <a:rPr sz="1350" spc="-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debe</a:t>
            </a:r>
            <a:r>
              <a:rPr sz="1350" spc="-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estar</a:t>
            </a:r>
            <a:r>
              <a:rPr sz="1350" spc="-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compuesto</a:t>
            </a:r>
            <a:r>
              <a:rPr sz="1350" spc="-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por</a:t>
            </a:r>
            <a:r>
              <a:rPr sz="1350" spc="-30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CFD0D8"/>
                </a:solidFill>
                <a:latin typeface="Roboto"/>
                <a:cs typeface="Roboto"/>
              </a:rPr>
              <a:t>una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familia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FD0D8"/>
                </a:solidFill>
                <a:latin typeface="Roboto"/>
                <a:cs typeface="Roboto"/>
              </a:rPr>
              <a:t>objetos</a:t>
            </a:r>
            <a:r>
              <a:rPr sz="1350" spc="-45" dirty="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FD0D8"/>
                </a:solidFill>
                <a:latin typeface="Roboto"/>
                <a:cs typeface="Roboto"/>
              </a:rPr>
              <a:t>relacionados.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A6EC272-50ED-F939-7227-596AF99CA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260" y="2232025"/>
            <a:ext cx="6181631" cy="301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3624" y="2635250"/>
            <a:ext cx="3279775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750" spc="-25" dirty="0"/>
              <a:t>Gracias</a:t>
            </a:r>
            <a:endParaRPr sz="6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450</Words>
  <Application>Microsoft Office PowerPoint</Application>
  <PresentationFormat>Personalizado</PresentationFormat>
  <Paragraphs>58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Roboto</vt:lpstr>
      <vt:lpstr>Roboto Lt</vt:lpstr>
      <vt:lpstr>Office Theme</vt:lpstr>
      <vt:lpstr>Factoría Abstracta: Creando Familias de Objetos Coherentes</vt:lpstr>
      <vt:lpstr>¿Qué es la Factoría Abstracta?</vt:lpstr>
      <vt:lpstr>¿Para qué funciona? El Problema que Resuelve</vt:lpstr>
      <vt:lpstr>Estructura Clave del Patrón</vt:lpstr>
      <vt:lpstr>Implementación y Principios SOLID</vt:lpstr>
      <vt:lpstr>Ejemplo Práctico: Creación de Interfaces Gráficas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 Esteban Ome Esquivel</cp:lastModifiedBy>
  <cp:revision>16</cp:revision>
  <dcterms:created xsi:type="dcterms:W3CDTF">2026-03-13T19:38:24Z</dcterms:created>
  <dcterms:modified xsi:type="dcterms:W3CDTF">2026-03-13T20:34:19Z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2026-03-13T00:00:00Z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2026-03-13T00:00:00Z</vt:filetime>
  </property>
  <property fmtid="{D5CDD505-2E9C-101B-9397-08002B2CF9AE}" pid="5" name="Producer">
    <vt:lpwstr>pdf-lib (https://github.com/Hopding/pdf-lib)</vt:lpwstr>
  </property>
</Properties>
</file>